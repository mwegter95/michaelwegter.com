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0" y="731520"/>
            <a:ext cx="4873752" cy="539496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7315200" cy="274320"/>
          </a:xfrm>
          <a:prstGeom prst="rect">
            <a:avLst/>
          </a:prstGeom>
          <a:noFill/>
        </p:spPr>
        <p:txBody>
          <a:bodyPr wrap="square">
            <a:spAutoFit/>
          </a:bodyPr>
          <a:lstStyle/>
          <a:p>
            <a:pPr algn="l"/>
            <a:r>
              <a:rPr sz="900" b="0">
                <a:solidFill>
                  <a:srgbClr val="0EA5E9"/>
                </a:solidFill>
                <a:latin typeface="DM Mono"/>
              </a:rPr>
              <a:t>PROPOSAL  /  FULL-STACK SAAS DEVELOPER</a:t>
            </a:r>
          </a:p>
        </p:txBody>
      </p:sp>
      <p:sp>
        <p:nvSpPr>
          <p:cNvPr id="5" name="TextBox 4"/>
          <p:cNvSpPr txBox="1"/>
          <p:nvPr/>
        </p:nvSpPr>
        <p:spPr>
          <a:xfrm>
            <a:off x="457200" y="1691640"/>
            <a:ext cx="6583680" cy="1463040"/>
          </a:xfrm>
          <a:prstGeom prst="rect">
            <a:avLst/>
          </a:prstGeom>
          <a:noFill/>
        </p:spPr>
        <p:txBody>
          <a:bodyPr wrap="square">
            <a:spAutoFit/>
          </a:bodyPr>
          <a:lstStyle/>
          <a:p>
            <a:pPr algn="l"/>
            <a:r>
              <a:rPr sz="4200" b="1">
                <a:solidFill>
                  <a:srgbClr val="F1F5F9"/>
                </a:solidFill>
                <a:latin typeface="Inter"/>
              </a:rPr>
              <a:t>Pathwaize Intelligence Center</a:t>
            </a:r>
          </a:p>
        </p:txBody>
      </p:sp>
      <p:sp>
        <p:nvSpPr>
          <p:cNvPr id="6" name="TextBox 5"/>
          <p:cNvSpPr txBox="1"/>
          <p:nvPr/>
        </p:nvSpPr>
        <p:spPr>
          <a:xfrm>
            <a:off x="457200" y="3017520"/>
            <a:ext cx="2743200" cy="640080"/>
          </a:xfrm>
          <a:prstGeom prst="rect">
            <a:avLst/>
          </a:prstGeom>
          <a:noFill/>
        </p:spPr>
        <p:txBody>
          <a:bodyPr wrap="square">
            <a:spAutoFit/>
          </a:bodyPr>
          <a:lstStyle/>
          <a:p>
            <a:pPr algn="l"/>
            <a:r>
              <a:rPr sz="4200" b="1">
                <a:solidFill>
                  <a:srgbClr val="0EA5E9"/>
                </a:solidFill>
                <a:latin typeface="Inter"/>
              </a:rPr>
              <a:t>MVP</a:t>
            </a:r>
          </a:p>
        </p:txBody>
      </p:sp>
      <p:sp>
        <p:nvSpPr>
          <p:cNvPr id="7" name="TextBox 6"/>
          <p:cNvSpPr txBox="1"/>
          <p:nvPr/>
        </p:nvSpPr>
        <p:spPr>
          <a:xfrm>
            <a:off x="457200" y="3749039"/>
            <a:ext cx="6400800" cy="411480"/>
          </a:xfrm>
          <a:prstGeom prst="rect">
            <a:avLst/>
          </a:prstGeom>
          <a:noFill/>
        </p:spPr>
        <p:txBody>
          <a:bodyPr wrap="square">
            <a:spAutoFit/>
          </a:bodyPr>
          <a:lstStyle/>
          <a:p>
            <a:pPr algn="l"/>
            <a:r>
              <a:rPr sz="1600" b="0">
                <a:solidFill>
                  <a:srgbClr val="94A3B8"/>
                </a:solidFill>
                <a:latin typeface="Inter"/>
              </a:rPr>
              <a:t>A working execution console for real estate investors.</a:t>
            </a:r>
          </a:p>
        </p:txBody>
      </p:sp>
      <p:sp>
        <p:nvSpPr>
          <p:cNvPr id="8" name="TextBox 7"/>
          <p:cNvSpPr txBox="1"/>
          <p:nvPr/>
        </p:nvSpPr>
        <p:spPr>
          <a:xfrm>
            <a:off x="457200" y="4297680"/>
            <a:ext cx="8229600" cy="320040"/>
          </a:xfrm>
          <a:prstGeom prst="rect">
            <a:avLst/>
          </a:prstGeom>
          <a:noFill/>
        </p:spPr>
        <p:txBody>
          <a:bodyPr wrap="square">
            <a:spAutoFit/>
          </a:bodyPr>
          <a:lstStyle/>
          <a:p>
            <a:pPr algn="l"/>
            <a:r>
              <a:rPr sz="1000" b="0">
                <a:solidFill>
                  <a:srgbClr val="06B6D4"/>
                </a:solidFill>
                <a:latin typeface="DM Mono"/>
              </a:rPr>
              <a:t>michaelwegter.com/demos/real-estate-intelligence-center/</a:t>
            </a:r>
          </a:p>
        </p:txBody>
      </p:sp>
      <p:sp>
        <p:nvSpPr>
          <p:cNvPr id="9" name="TextBox 8"/>
          <p:cNvSpPr txBox="1"/>
          <p:nvPr/>
        </p:nvSpPr>
        <p:spPr>
          <a:xfrm>
            <a:off x="457200" y="4937760"/>
            <a:ext cx="6400800" cy="274320"/>
          </a:xfrm>
          <a:prstGeom prst="rect">
            <a:avLst/>
          </a:prstGeom>
          <a:noFill/>
        </p:spPr>
        <p:txBody>
          <a:bodyPr wrap="square">
            <a:spAutoFit/>
          </a:bodyPr>
          <a:lstStyle/>
          <a:p>
            <a:pPr algn="l"/>
            <a:r>
              <a:rPr sz="900" b="0">
                <a:solidFill>
                  <a:srgbClr val="475569"/>
                </a:solidFill>
                <a:latin typeface="DM Mono"/>
              </a:rPr>
              <a:t>Michael Wegter  |  Full-Stack Developer  |  July 2026</a:t>
            </a:r>
          </a:p>
        </p:txBody>
      </p:sp>
      <p:sp>
        <p:nvSpPr>
          <p:cNvPr id="10" name="TextBox 9"/>
          <p:cNvSpPr txBox="1"/>
          <p:nvPr/>
        </p:nvSpPr>
        <p:spPr>
          <a:xfrm>
            <a:off x="7406640" y="1188720"/>
            <a:ext cx="4389120" cy="274320"/>
          </a:xfrm>
          <a:prstGeom prst="rect">
            <a:avLst/>
          </a:prstGeom>
          <a:noFill/>
        </p:spPr>
        <p:txBody>
          <a:bodyPr wrap="square">
            <a:spAutoFit/>
          </a:bodyPr>
          <a:lstStyle/>
          <a:p>
            <a:pPr algn="l"/>
            <a:r>
              <a:rPr sz="800" b="0">
                <a:solidFill>
                  <a:srgbClr val="0EA5E9"/>
                </a:solidFill>
                <a:latin typeface="DM Mono"/>
              </a:rPr>
              <a:t>DEMO LIVE NOW</a:t>
            </a:r>
          </a:p>
        </p:txBody>
      </p:sp>
      <p:sp>
        <p:nvSpPr>
          <p:cNvPr id="11" name="TextBox 10"/>
          <p:cNvSpPr txBox="1"/>
          <p:nvPr/>
        </p:nvSpPr>
        <p:spPr>
          <a:xfrm>
            <a:off x="7406640" y="1554480"/>
            <a:ext cx="4389120" cy="320040"/>
          </a:xfrm>
          <a:prstGeom prst="rect">
            <a:avLst/>
          </a:prstGeom>
          <a:noFill/>
        </p:spPr>
        <p:txBody>
          <a:bodyPr wrap="square">
            <a:spAutoFit/>
          </a:bodyPr>
          <a:lstStyle/>
          <a:p>
            <a:pPr algn="l"/>
            <a:r>
              <a:rPr sz="1300" b="1">
                <a:solidFill>
                  <a:srgbClr val="F1F5F9"/>
                </a:solidFill>
                <a:latin typeface="Inter"/>
              </a:rPr>
              <a:t>Run an engine.</a:t>
            </a:r>
          </a:p>
        </p:txBody>
      </p:sp>
      <p:sp>
        <p:nvSpPr>
          <p:cNvPr id="12" name="TextBox 11"/>
          <p:cNvSpPr txBox="1"/>
          <p:nvPr/>
        </p:nvSpPr>
        <p:spPr>
          <a:xfrm>
            <a:off x="7406640" y="1920240"/>
            <a:ext cx="4389120" cy="320040"/>
          </a:xfrm>
          <a:prstGeom prst="rect">
            <a:avLst/>
          </a:prstGeom>
          <a:noFill/>
        </p:spPr>
        <p:txBody>
          <a:bodyPr wrap="square">
            <a:spAutoFit/>
          </a:bodyPr>
          <a:lstStyle/>
          <a:p>
            <a:pPr algn="l"/>
            <a:r>
              <a:rPr sz="1300" b="1">
                <a:solidFill>
                  <a:srgbClr val="F1F5F9"/>
                </a:solidFill>
                <a:latin typeface="Inter"/>
              </a:rPr>
              <a:t>Review the output.</a:t>
            </a:r>
          </a:p>
        </p:txBody>
      </p:sp>
      <p:sp>
        <p:nvSpPr>
          <p:cNvPr id="13" name="TextBox 12"/>
          <p:cNvSpPr txBox="1"/>
          <p:nvPr/>
        </p:nvSpPr>
        <p:spPr>
          <a:xfrm>
            <a:off x="7406640" y="2286000"/>
            <a:ext cx="4389120" cy="320040"/>
          </a:xfrm>
          <a:prstGeom prst="rect">
            <a:avLst/>
          </a:prstGeom>
          <a:noFill/>
        </p:spPr>
        <p:txBody>
          <a:bodyPr wrap="square">
            <a:spAutoFit/>
          </a:bodyPr>
          <a:lstStyle/>
          <a:p>
            <a:pPr algn="l"/>
            <a:r>
              <a:rPr sz="1300" b="1">
                <a:solidFill>
                  <a:srgbClr val="F1F5F9"/>
                </a:solidFill>
                <a:latin typeface="Inter"/>
              </a:rPr>
              <a:t>Approve it.</a:t>
            </a:r>
          </a:p>
        </p:txBody>
      </p:sp>
      <p:sp>
        <p:nvSpPr>
          <p:cNvPr id="14" name="TextBox 13"/>
          <p:cNvSpPr txBox="1"/>
          <p:nvPr/>
        </p:nvSpPr>
        <p:spPr>
          <a:xfrm>
            <a:off x="7406640" y="2651760"/>
            <a:ext cx="4389120" cy="320040"/>
          </a:xfrm>
          <a:prstGeom prst="rect">
            <a:avLst/>
          </a:prstGeom>
          <a:noFill/>
        </p:spPr>
        <p:txBody>
          <a:bodyPr wrap="square">
            <a:spAutoFit/>
          </a:bodyPr>
          <a:lstStyle/>
          <a:p>
            <a:pPr algn="l"/>
            <a:r>
              <a:rPr sz="1300" b="1">
                <a:solidFill>
                  <a:srgbClr val="22C55E"/>
                </a:solidFill>
                <a:latin typeface="Inter"/>
              </a:rPr>
              <a:t>Push it.</a:t>
            </a:r>
          </a:p>
        </p:txBody>
      </p:sp>
      <p:sp>
        <p:nvSpPr>
          <p:cNvPr id="15" name="TextBox 14"/>
          <p:cNvSpPr txBox="1"/>
          <p:nvPr/>
        </p:nvSpPr>
        <p:spPr>
          <a:xfrm>
            <a:off x="7406640" y="3200400"/>
            <a:ext cx="4389120" cy="548640"/>
          </a:xfrm>
          <a:prstGeom prst="rect">
            <a:avLst/>
          </a:prstGeom>
          <a:noFill/>
        </p:spPr>
        <p:txBody>
          <a:bodyPr wrap="square">
            <a:spAutoFit/>
          </a:bodyPr>
          <a:lstStyle/>
          <a:p>
            <a:pPr algn="l"/>
            <a:r>
              <a:rPr sz="1050" b="0">
                <a:solidFill>
                  <a:srgbClr val="94A3B8"/>
                </a:solidFill>
                <a:latin typeface="Inter"/>
              </a:rPr>
              <a:t>That is the workflow. It is running at the link above.</a:t>
            </a:r>
          </a:p>
        </p:txBody>
      </p:sp>
      <p:sp>
        <p:nvSpPr>
          <p:cNvPr id="16" name="TextBox 15"/>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a:spAutoFit/>
          </a:bodyPr>
          <a:lstStyle/>
          <a:p>
            <a:pPr algn="l"/>
            <a:r>
              <a:rPr sz="900" b="0">
                <a:solidFill>
                  <a:srgbClr val="0EA5E9"/>
                </a:solidFill>
                <a:latin typeface="DM Mono"/>
              </a:rPr>
              <a:t>CORE WORKFLOW  /  RUN &gt; GENERATE &gt; REVIEW &gt; REVISE &gt; APPROVE &gt; SAVE/PUSH</a:t>
            </a:r>
          </a:p>
        </p:txBody>
      </p:sp>
      <p:sp>
        <p:nvSpPr>
          <p:cNvPr id="4" name="TextBox 3"/>
          <p:cNvSpPr txBox="1"/>
          <p:nvPr/>
        </p:nvSpPr>
        <p:spPr>
          <a:xfrm>
            <a:off x="457200" y="594360"/>
            <a:ext cx="10972800" cy="502920"/>
          </a:xfrm>
          <a:prstGeom prst="rect">
            <a:avLst/>
          </a:prstGeom>
          <a:noFill/>
        </p:spPr>
        <p:txBody>
          <a:bodyPr wrap="square">
            <a:spAutoFit/>
          </a:bodyPr>
          <a:lstStyle/>
          <a:p>
            <a:pPr algn="l"/>
            <a:r>
              <a:rPr sz="2800" b="1">
                <a:solidFill>
                  <a:srgbClr val="F1F5F9"/>
                </a:solidFill>
                <a:latin typeface="Inter"/>
              </a:rPr>
              <a:t>The workflow, exactly as you scoped it</a:t>
            </a:r>
          </a:p>
        </p:txBody>
      </p:sp>
      <p:sp>
        <p:nvSpPr>
          <p:cNvPr id="5" name="TextBox 4"/>
          <p:cNvSpPr txBox="1"/>
          <p:nvPr/>
        </p:nvSpPr>
        <p:spPr>
          <a:xfrm>
            <a:off x="457200" y="1097280"/>
            <a:ext cx="10515600" cy="320040"/>
          </a:xfrm>
          <a:prstGeom prst="rect">
            <a:avLst/>
          </a:prstGeom>
          <a:noFill/>
        </p:spPr>
        <p:txBody>
          <a:bodyPr wrap="square">
            <a:spAutoFit/>
          </a:bodyPr>
          <a:lstStyle/>
          <a:p>
            <a:pPr algn="l"/>
            <a:r>
              <a:rPr sz="1200" b="0">
                <a:solidFill>
                  <a:srgbClr val="94A3B8"/>
                </a:solidFill>
                <a:latin typeface="Inter"/>
              </a:rPr>
              <a:t>Approval is a hard gate. Outputs cannot push to any destination until the user explicitly clicks Approve.</a:t>
            </a:r>
          </a:p>
        </p:txBody>
      </p:sp>
      <p:sp>
        <p:nvSpPr>
          <p:cNvPr id="6" name="Rectangle 5"/>
          <p:cNvSpPr/>
          <p:nvPr/>
        </p:nvSpPr>
        <p:spPr>
          <a:xfrm>
            <a:off x="365760" y="1600200"/>
            <a:ext cx="1828800" cy="2926080"/>
          </a:xfrm>
          <a:prstGeom prst="rect">
            <a:avLst/>
          </a:prstGeom>
          <a:solidFill>
            <a:srgbClr val="1A2236"/>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737360"/>
            <a:ext cx="1554480" cy="274320"/>
          </a:xfrm>
          <a:prstGeom prst="rect">
            <a:avLst/>
          </a:prstGeom>
          <a:noFill/>
        </p:spPr>
        <p:txBody>
          <a:bodyPr wrap="square">
            <a:spAutoFit/>
          </a:bodyPr>
          <a:lstStyle/>
          <a:p>
            <a:pPr algn="l"/>
            <a:r>
              <a:rPr sz="900" b="0">
                <a:solidFill>
                  <a:srgbClr val="0EA5E9"/>
                </a:solidFill>
                <a:latin typeface="DM Mono"/>
              </a:rPr>
              <a:t>01</a:t>
            </a:r>
          </a:p>
        </p:txBody>
      </p:sp>
      <p:sp>
        <p:nvSpPr>
          <p:cNvPr id="8" name="TextBox 7"/>
          <p:cNvSpPr txBox="1"/>
          <p:nvPr/>
        </p:nvSpPr>
        <p:spPr>
          <a:xfrm>
            <a:off x="502920" y="2057400"/>
            <a:ext cx="1554480" cy="365760"/>
          </a:xfrm>
          <a:prstGeom prst="rect">
            <a:avLst/>
          </a:prstGeom>
          <a:noFill/>
        </p:spPr>
        <p:txBody>
          <a:bodyPr wrap="square">
            <a:spAutoFit/>
          </a:bodyPr>
          <a:lstStyle/>
          <a:p>
            <a:pPr algn="l"/>
            <a:r>
              <a:rPr sz="1400" b="1">
                <a:solidFill>
                  <a:srgbClr val="0EA5E9"/>
                </a:solidFill>
                <a:latin typeface="Inter"/>
              </a:rPr>
              <a:t>Run</a:t>
            </a:r>
          </a:p>
        </p:txBody>
      </p:sp>
      <p:sp>
        <p:nvSpPr>
          <p:cNvPr id="9" name="TextBox 8"/>
          <p:cNvSpPr txBox="1"/>
          <p:nvPr/>
        </p:nvSpPr>
        <p:spPr>
          <a:xfrm>
            <a:off x="502920" y="2514600"/>
            <a:ext cx="1554480" cy="1828800"/>
          </a:xfrm>
          <a:prstGeom prst="rect">
            <a:avLst/>
          </a:prstGeom>
          <a:noFill/>
        </p:spPr>
        <p:txBody>
          <a:bodyPr wrap="square">
            <a:spAutoFit/>
          </a:bodyPr>
          <a:lstStyle/>
          <a:p>
            <a:pPr algn="l"/>
            <a:r>
              <a:rPr sz="1050" b="0">
                <a:solidFill>
                  <a:srgbClr val="94A3B8"/>
                </a:solidFill>
                <a:latin typeface="Inter"/>
              </a:rPr>
              <a:t>User fills the brief and fires an engine</a:t>
            </a:r>
          </a:p>
        </p:txBody>
      </p:sp>
      <p:sp>
        <p:nvSpPr>
          <p:cNvPr id="10" name="TextBox 9"/>
          <p:cNvSpPr txBox="1"/>
          <p:nvPr/>
        </p:nvSpPr>
        <p:spPr>
          <a:xfrm>
            <a:off x="2176272" y="2971800"/>
            <a:ext cx="228600" cy="320040"/>
          </a:xfrm>
          <a:prstGeom prst="rect">
            <a:avLst/>
          </a:prstGeom>
          <a:noFill/>
        </p:spPr>
        <p:txBody>
          <a:bodyPr wrap="square">
            <a:spAutoFit/>
          </a:bodyPr>
          <a:lstStyle/>
          <a:p>
            <a:pPr algn="l"/>
            <a:r>
              <a:rPr sz="1000" b="0">
                <a:solidFill>
                  <a:srgbClr val="475569"/>
                </a:solidFill>
                <a:latin typeface="DM Mono"/>
              </a:rPr>
              <a:t>&gt;&gt;</a:t>
            </a:r>
          </a:p>
        </p:txBody>
      </p:sp>
      <p:sp>
        <p:nvSpPr>
          <p:cNvPr id="11" name="Rectangle 10"/>
          <p:cNvSpPr/>
          <p:nvPr/>
        </p:nvSpPr>
        <p:spPr>
          <a:xfrm>
            <a:off x="2267712" y="1600200"/>
            <a:ext cx="1828800" cy="292608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04872" y="1737360"/>
            <a:ext cx="1554480" cy="274320"/>
          </a:xfrm>
          <a:prstGeom prst="rect">
            <a:avLst/>
          </a:prstGeom>
          <a:noFill/>
        </p:spPr>
        <p:txBody>
          <a:bodyPr wrap="square">
            <a:spAutoFit/>
          </a:bodyPr>
          <a:lstStyle/>
          <a:p>
            <a:pPr algn="l"/>
            <a:r>
              <a:rPr sz="900" b="0">
                <a:solidFill>
                  <a:srgbClr val="0EA5E9"/>
                </a:solidFill>
                <a:latin typeface="DM Mono"/>
              </a:rPr>
              <a:t>02</a:t>
            </a:r>
          </a:p>
        </p:txBody>
      </p:sp>
      <p:sp>
        <p:nvSpPr>
          <p:cNvPr id="13" name="TextBox 12"/>
          <p:cNvSpPr txBox="1"/>
          <p:nvPr/>
        </p:nvSpPr>
        <p:spPr>
          <a:xfrm>
            <a:off x="2404872" y="2057400"/>
            <a:ext cx="1554480" cy="365760"/>
          </a:xfrm>
          <a:prstGeom prst="rect">
            <a:avLst/>
          </a:prstGeom>
          <a:noFill/>
        </p:spPr>
        <p:txBody>
          <a:bodyPr wrap="square">
            <a:spAutoFit/>
          </a:bodyPr>
          <a:lstStyle/>
          <a:p>
            <a:pPr algn="l"/>
            <a:r>
              <a:rPr sz="1400" b="1">
                <a:solidFill>
                  <a:srgbClr val="94A3B8"/>
                </a:solidFill>
                <a:latin typeface="Inter"/>
              </a:rPr>
              <a:t>Generate</a:t>
            </a:r>
          </a:p>
        </p:txBody>
      </p:sp>
      <p:sp>
        <p:nvSpPr>
          <p:cNvPr id="14" name="TextBox 13"/>
          <p:cNvSpPr txBox="1"/>
          <p:nvPr/>
        </p:nvSpPr>
        <p:spPr>
          <a:xfrm>
            <a:off x="2404872" y="2514600"/>
            <a:ext cx="1554480" cy="1828800"/>
          </a:xfrm>
          <a:prstGeom prst="rect">
            <a:avLst/>
          </a:prstGeom>
          <a:noFill/>
        </p:spPr>
        <p:txBody>
          <a:bodyPr wrap="square">
            <a:spAutoFit/>
          </a:bodyPr>
          <a:lstStyle/>
          <a:p>
            <a:pPr algn="l"/>
            <a:r>
              <a:rPr sz="1050" b="0">
                <a:solidFill>
                  <a:srgbClr val="94A3B8"/>
                </a:solidFill>
                <a:latin typeface="Inter"/>
              </a:rPr>
              <a:t>LLM router routes request and returns structured output</a:t>
            </a:r>
          </a:p>
        </p:txBody>
      </p:sp>
      <p:sp>
        <p:nvSpPr>
          <p:cNvPr id="15" name="TextBox 14"/>
          <p:cNvSpPr txBox="1"/>
          <p:nvPr/>
        </p:nvSpPr>
        <p:spPr>
          <a:xfrm>
            <a:off x="4078224" y="2971800"/>
            <a:ext cx="228600" cy="320040"/>
          </a:xfrm>
          <a:prstGeom prst="rect">
            <a:avLst/>
          </a:prstGeom>
          <a:noFill/>
        </p:spPr>
        <p:txBody>
          <a:bodyPr wrap="square">
            <a:spAutoFit/>
          </a:bodyPr>
          <a:lstStyle/>
          <a:p>
            <a:pPr algn="l"/>
            <a:r>
              <a:rPr sz="1000" b="0">
                <a:solidFill>
                  <a:srgbClr val="475569"/>
                </a:solidFill>
                <a:latin typeface="DM Mono"/>
              </a:rPr>
              <a:t>&gt;&gt;</a:t>
            </a:r>
          </a:p>
        </p:txBody>
      </p:sp>
      <p:sp>
        <p:nvSpPr>
          <p:cNvPr id="16" name="Rectangle 15"/>
          <p:cNvSpPr/>
          <p:nvPr/>
        </p:nvSpPr>
        <p:spPr>
          <a:xfrm>
            <a:off x="4169664" y="1600200"/>
            <a:ext cx="1828800" cy="2926080"/>
          </a:xfrm>
          <a:prstGeom prst="rect">
            <a:avLst/>
          </a:prstGeom>
          <a:solidFill>
            <a:srgbClr val="1A2236"/>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06824" y="1737360"/>
            <a:ext cx="1554480" cy="274320"/>
          </a:xfrm>
          <a:prstGeom prst="rect">
            <a:avLst/>
          </a:prstGeom>
          <a:noFill/>
        </p:spPr>
        <p:txBody>
          <a:bodyPr wrap="square">
            <a:spAutoFit/>
          </a:bodyPr>
          <a:lstStyle/>
          <a:p>
            <a:pPr algn="l"/>
            <a:r>
              <a:rPr sz="900" b="0">
                <a:solidFill>
                  <a:srgbClr val="0EA5E9"/>
                </a:solidFill>
                <a:latin typeface="DM Mono"/>
              </a:rPr>
              <a:t>03</a:t>
            </a:r>
          </a:p>
        </p:txBody>
      </p:sp>
      <p:sp>
        <p:nvSpPr>
          <p:cNvPr id="18" name="TextBox 17"/>
          <p:cNvSpPr txBox="1"/>
          <p:nvPr/>
        </p:nvSpPr>
        <p:spPr>
          <a:xfrm>
            <a:off x="4306824" y="2057400"/>
            <a:ext cx="1554480" cy="365760"/>
          </a:xfrm>
          <a:prstGeom prst="rect">
            <a:avLst/>
          </a:prstGeom>
          <a:noFill/>
        </p:spPr>
        <p:txBody>
          <a:bodyPr wrap="square">
            <a:spAutoFit/>
          </a:bodyPr>
          <a:lstStyle/>
          <a:p>
            <a:pPr algn="l"/>
            <a:r>
              <a:rPr sz="1400" b="1">
                <a:solidFill>
                  <a:srgbClr val="F59E0B"/>
                </a:solidFill>
                <a:latin typeface="Inter"/>
              </a:rPr>
              <a:t>Review</a:t>
            </a:r>
          </a:p>
        </p:txBody>
      </p:sp>
      <p:sp>
        <p:nvSpPr>
          <p:cNvPr id="19" name="TextBox 18"/>
          <p:cNvSpPr txBox="1"/>
          <p:nvPr/>
        </p:nvSpPr>
        <p:spPr>
          <a:xfrm>
            <a:off x="4306824" y="2514600"/>
            <a:ext cx="1554480" cy="1828800"/>
          </a:xfrm>
          <a:prstGeom prst="rect">
            <a:avLst/>
          </a:prstGeom>
          <a:noFill/>
        </p:spPr>
        <p:txBody>
          <a:bodyPr wrap="square">
            <a:spAutoFit/>
          </a:bodyPr>
          <a:lstStyle/>
          <a:p>
            <a:pPr algn="l"/>
            <a:r>
              <a:rPr sz="1050" b="0">
                <a:solidFill>
                  <a:srgbClr val="94A3B8"/>
                </a:solidFill>
                <a:latin typeface="Inter"/>
              </a:rPr>
              <a:t>Output lands in Pending Review queue (status: needs-review)</a:t>
            </a:r>
          </a:p>
        </p:txBody>
      </p:sp>
      <p:sp>
        <p:nvSpPr>
          <p:cNvPr id="20" name="TextBox 19"/>
          <p:cNvSpPr txBox="1"/>
          <p:nvPr/>
        </p:nvSpPr>
        <p:spPr>
          <a:xfrm>
            <a:off x="5980176" y="2971800"/>
            <a:ext cx="228600" cy="320040"/>
          </a:xfrm>
          <a:prstGeom prst="rect">
            <a:avLst/>
          </a:prstGeom>
          <a:noFill/>
        </p:spPr>
        <p:txBody>
          <a:bodyPr wrap="square">
            <a:spAutoFit/>
          </a:bodyPr>
          <a:lstStyle/>
          <a:p>
            <a:pPr algn="l"/>
            <a:r>
              <a:rPr sz="1000" b="0">
                <a:solidFill>
                  <a:srgbClr val="475569"/>
                </a:solidFill>
                <a:latin typeface="DM Mono"/>
              </a:rPr>
              <a:t>&gt;&gt;</a:t>
            </a:r>
          </a:p>
        </p:txBody>
      </p:sp>
      <p:sp>
        <p:nvSpPr>
          <p:cNvPr id="21" name="Rectangle 20"/>
          <p:cNvSpPr/>
          <p:nvPr/>
        </p:nvSpPr>
        <p:spPr>
          <a:xfrm>
            <a:off x="6071616" y="1600200"/>
            <a:ext cx="1828800" cy="292608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08776" y="1737360"/>
            <a:ext cx="1554480" cy="274320"/>
          </a:xfrm>
          <a:prstGeom prst="rect">
            <a:avLst/>
          </a:prstGeom>
          <a:noFill/>
        </p:spPr>
        <p:txBody>
          <a:bodyPr wrap="square">
            <a:spAutoFit/>
          </a:bodyPr>
          <a:lstStyle/>
          <a:p>
            <a:pPr algn="l"/>
            <a:r>
              <a:rPr sz="900" b="0">
                <a:solidFill>
                  <a:srgbClr val="0EA5E9"/>
                </a:solidFill>
                <a:latin typeface="DM Mono"/>
              </a:rPr>
              <a:t>04</a:t>
            </a:r>
          </a:p>
        </p:txBody>
      </p:sp>
      <p:sp>
        <p:nvSpPr>
          <p:cNvPr id="23" name="TextBox 22"/>
          <p:cNvSpPr txBox="1"/>
          <p:nvPr/>
        </p:nvSpPr>
        <p:spPr>
          <a:xfrm>
            <a:off x="6208776" y="2057400"/>
            <a:ext cx="1554480" cy="365760"/>
          </a:xfrm>
          <a:prstGeom prst="rect">
            <a:avLst/>
          </a:prstGeom>
          <a:noFill/>
        </p:spPr>
        <p:txBody>
          <a:bodyPr wrap="square">
            <a:spAutoFit/>
          </a:bodyPr>
          <a:lstStyle/>
          <a:p>
            <a:pPr algn="l"/>
            <a:r>
              <a:rPr sz="1400" b="1">
                <a:solidFill>
                  <a:srgbClr val="94A3B8"/>
                </a:solidFill>
                <a:latin typeface="Inter"/>
              </a:rPr>
              <a:t>Revise</a:t>
            </a:r>
          </a:p>
        </p:txBody>
      </p:sp>
      <p:sp>
        <p:nvSpPr>
          <p:cNvPr id="24" name="TextBox 23"/>
          <p:cNvSpPr txBox="1"/>
          <p:nvPr/>
        </p:nvSpPr>
        <p:spPr>
          <a:xfrm>
            <a:off x="6208776" y="2514600"/>
            <a:ext cx="1554480" cy="1828800"/>
          </a:xfrm>
          <a:prstGeom prst="rect">
            <a:avLst/>
          </a:prstGeom>
          <a:noFill/>
        </p:spPr>
        <p:txBody>
          <a:bodyPr wrap="square">
            <a:spAutoFit/>
          </a:bodyPr>
          <a:lstStyle/>
          <a:p>
            <a:pPr algn="l"/>
            <a:r>
              <a:rPr sz="1050" b="0">
                <a:solidFill>
                  <a:srgbClr val="94A3B8"/>
                </a:solidFill>
                <a:latin typeface="Inter"/>
              </a:rPr>
              <a:t>User requests edits; engine re-runs with revision notes</a:t>
            </a:r>
          </a:p>
        </p:txBody>
      </p:sp>
      <p:sp>
        <p:nvSpPr>
          <p:cNvPr id="25" name="TextBox 24"/>
          <p:cNvSpPr txBox="1"/>
          <p:nvPr/>
        </p:nvSpPr>
        <p:spPr>
          <a:xfrm>
            <a:off x="7882128" y="2971800"/>
            <a:ext cx="228600" cy="320040"/>
          </a:xfrm>
          <a:prstGeom prst="rect">
            <a:avLst/>
          </a:prstGeom>
          <a:noFill/>
        </p:spPr>
        <p:txBody>
          <a:bodyPr wrap="square">
            <a:spAutoFit/>
          </a:bodyPr>
          <a:lstStyle/>
          <a:p>
            <a:pPr algn="l"/>
            <a:r>
              <a:rPr sz="1000" b="0">
                <a:solidFill>
                  <a:srgbClr val="475569"/>
                </a:solidFill>
                <a:latin typeface="DM Mono"/>
              </a:rPr>
              <a:t>&gt;&gt;</a:t>
            </a:r>
          </a:p>
        </p:txBody>
      </p:sp>
      <p:sp>
        <p:nvSpPr>
          <p:cNvPr id="26" name="Rectangle 25"/>
          <p:cNvSpPr/>
          <p:nvPr/>
        </p:nvSpPr>
        <p:spPr>
          <a:xfrm>
            <a:off x="7973568" y="1600200"/>
            <a:ext cx="1828800" cy="2926080"/>
          </a:xfrm>
          <a:prstGeom prst="rect">
            <a:avLst/>
          </a:prstGeom>
          <a:solidFill>
            <a:srgbClr val="1A2236"/>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10728" y="1737360"/>
            <a:ext cx="1554480" cy="274320"/>
          </a:xfrm>
          <a:prstGeom prst="rect">
            <a:avLst/>
          </a:prstGeom>
          <a:noFill/>
        </p:spPr>
        <p:txBody>
          <a:bodyPr wrap="square">
            <a:spAutoFit/>
          </a:bodyPr>
          <a:lstStyle/>
          <a:p>
            <a:pPr algn="l"/>
            <a:r>
              <a:rPr sz="900" b="0">
                <a:solidFill>
                  <a:srgbClr val="0EA5E9"/>
                </a:solidFill>
                <a:latin typeface="DM Mono"/>
              </a:rPr>
              <a:t>05</a:t>
            </a:r>
          </a:p>
        </p:txBody>
      </p:sp>
      <p:sp>
        <p:nvSpPr>
          <p:cNvPr id="28" name="TextBox 27"/>
          <p:cNvSpPr txBox="1"/>
          <p:nvPr/>
        </p:nvSpPr>
        <p:spPr>
          <a:xfrm>
            <a:off x="8110728" y="2057400"/>
            <a:ext cx="1554480" cy="365760"/>
          </a:xfrm>
          <a:prstGeom prst="rect">
            <a:avLst/>
          </a:prstGeom>
          <a:noFill/>
        </p:spPr>
        <p:txBody>
          <a:bodyPr wrap="square">
            <a:spAutoFit/>
          </a:bodyPr>
          <a:lstStyle/>
          <a:p>
            <a:pPr algn="l"/>
            <a:r>
              <a:rPr sz="1400" b="1">
                <a:solidFill>
                  <a:srgbClr val="22C55E"/>
                </a:solidFill>
                <a:latin typeface="Inter"/>
              </a:rPr>
              <a:t>Approve</a:t>
            </a:r>
          </a:p>
        </p:txBody>
      </p:sp>
      <p:sp>
        <p:nvSpPr>
          <p:cNvPr id="29" name="TextBox 28"/>
          <p:cNvSpPr txBox="1"/>
          <p:nvPr/>
        </p:nvSpPr>
        <p:spPr>
          <a:xfrm>
            <a:off x="8110728" y="2514600"/>
            <a:ext cx="1554480" cy="1828800"/>
          </a:xfrm>
          <a:prstGeom prst="rect">
            <a:avLst/>
          </a:prstGeom>
          <a:noFill/>
        </p:spPr>
        <p:txBody>
          <a:bodyPr wrap="square">
            <a:spAutoFit/>
          </a:bodyPr>
          <a:lstStyle/>
          <a:p>
            <a:pPr algn="l"/>
            <a:r>
              <a:rPr sz="1050" b="0">
                <a:solidFill>
                  <a:srgbClr val="94A3B8"/>
                </a:solidFill>
                <a:latin typeface="Inter"/>
              </a:rPr>
              <a:t>User clicks Approve; status flips to approved</a:t>
            </a:r>
          </a:p>
        </p:txBody>
      </p:sp>
      <p:sp>
        <p:nvSpPr>
          <p:cNvPr id="30" name="TextBox 29"/>
          <p:cNvSpPr txBox="1"/>
          <p:nvPr/>
        </p:nvSpPr>
        <p:spPr>
          <a:xfrm>
            <a:off x="9784080" y="2971800"/>
            <a:ext cx="228600" cy="320040"/>
          </a:xfrm>
          <a:prstGeom prst="rect">
            <a:avLst/>
          </a:prstGeom>
          <a:noFill/>
        </p:spPr>
        <p:txBody>
          <a:bodyPr wrap="square">
            <a:spAutoFit/>
          </a:bodyPr>
          <a:lstStyle/>
          <a:p>
            <a:pPr algn="l"/>
            <a:r>
              <a:rPr sz="1000" b="0">
                <a:solidFill>
                  <a:srgbClr val="475569"/>
                </a:solidFill>
                <a:latin typeface="DM Mono"/>
              </a:rPr>
              <a:t>&gt;&gt;</a:t>
            </a:r>
          </a:p>
        </p:txBody>
      </p:sp>
      <p:sp>
        <p:nvSpPr>
          <p:cNvPr id="31" name="Rectangle 30"/>
          <p:cNvSpPr/>
          <p:nvPr/>
        </p:nvSpPr>
        <p:spPr>
          <a:xfrm>
            <a:off x="9875520" y="1600200"/>
            <a:ext cx="1828800" cy="292608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12680" y="1737360"/>
            <a:ext cx="1554480" cy="274320"/>
          </a:xfrm>
          <a:prstGeom prst="rect">
            <a:avLst/>
          </a:prstGeom>
          <a:noFill/>
        </p:spPr>
        <p:txBody>
          <a:bodyPr wrap="square">
            <a:spAutoFit/>
          </a:bodyPr>
          <a:lstStyle/>
          <a:p>
            <a:pPr algn="l"/>
            <a:r>
              <a:rPr sz="900" b="0">
                <a:solidFill>
                  <a:srgbClr val="0EA5E9"/>
                </a:solidFill>
                <a:latin typeface="DM Mono"/>
              </a:rPr>
              <a:t>06</a:t>
            </a:r>
          </a:p>
        </p:txBody>
      </p:sp>
      <p:sp>
        <p:nvSpPr>
          <p:cNvPr id="33" name="TextBox 32"/>
          <p:cNvSpPr txBox="1"/>
          <p:nvPr/>
        </p:nvSpPr>
        <p:spPr>
          <a:xfrm>
            <a:off x="10012680" y="2057400"/>
            <a:ext cx="1554480" cy="365760"/>
          </a:xfrm>
          <a:prstGeom prst="rect">
            <a:avLst/>
          </a:prstGeom>
          <a:noFill/>
        </p:spPr>
        <p:txBody>
          <a:bodyPr wrap="square">
            <a:spAutoFit/>
          </a:bodyPr>
          <a:lstStyle/>
          <a:p>
            <a:pPr algn="l"/>
            <a:r>
              <a:rPr sz="1400" b="1">
                <a:solidFill>
                  <a:srgbClr val="06B6D4"/>
                </a:solidFill>
                <a:latin typeface="Inter"/>
              </a:rPr>
              <a:t>Save / Push</a:t>
            </a:r>
          </a:p>
        </p:txBody>
      </p:sp>
      <p:sp>
        <p:nvSpPr>
          <p:cNvPr id="34" name="TextBox 33"/>
          <p:cNvSpPr txBox="1"/>
          <p:nvPr/>
        </p:nvSpPr>
        <p:spPr>
          <a:xfrm>
            <a:off x="10012680" y="2514600"/>
            <a:ext cx="1554480" cy="1828800"/>
          </a:xfrm>
          <a:prstGeom prst="rect">
            <a:avLst/>
          </a:prstGeom>
          <a:noFill/>
        </p:spPr>
        <p:txBody>
          <a:bodyPr wrap="square">
            <a:spAutoFit/>
          </a:bodyPr>
          <a:lstStyle/>
          <a:p>
            <a:pPr algn="l"/>
            <a:r>
              <a:rPr sz="1050" b="0">
                <a:solidFill>
                  <a:srgbClr val="94A3B8"/>
                </a:solidFill>
                <a:latin typeface="Inter"/>
              </a:rPr>
              <a:t>Push button unlocks; output saved to destination</a:t>
            </a:r>
          </a:p>
        </p:txBody>
      </p:sp>
      <p:sp>
        <p:nvSpPr>
          <p:cNvPr id="35" name="TextBox 34"/>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a:spAutoFit/>
          </a:bodyPr>
          <a:lstStyle/>
          <a:p>
            <a:pPr algn="l"/>
            <a:r>
              <a:rPr sz="900" b="0">
                <a:solidFill>
                  <a:srgbClr val="0EA5E9"/>
                </a:solidFill>
                <a:latin typeface="DM Mono"/>
              </a:rPr>
              <a:t>V1 ENGINES  /  THREE AI ENGINES WIRED END-TO-END</a:t>
            </a:r>
          </a:p>
        </p:txBody>
      </p:sp>
      <p:sp>
        <p:nvSpPr>
          <p:cNvPr id="4" name="TextBox 3"/>
          <p:cNvSpPr txBox="1"/>
          <p:nvPr/>
        </p:nvSpPr>
        <p:spPr>
          <a:xfrm>
            <a:off x="457200" y="594360"/>
            <a:ext cx="10972800" cy="502920"/>
          </a:xfrm>
          <a:prstGeom prst="rect">
            <a:avLst/>
          </a:prstGeom>
          <a:noFill/>
        </p:spPr>
        <p:txBody>
          <a:bodyPr wrap="square">
            <a:spAutoFit/>
          </a:bodyPr>
          <a:lstStyle/>
          <a:p>
            <a:pPr algn="l"/>
            <a:r>
              <a:rPr sz="2800" b="1">
                <a:solidFill>
                  <a:srgbClr val="F1F5F9"/>
                </a:solidFill>
                <a:latin typeface="Inter"/>
              </a:rPr>
              <a:t>Three engines, all running in the demo today</a:t>
            </a:r>
          </a:p>
        </p:txBody>
      </p:sp>
      <p:sp>
        <p:nvSpPr>
          <p:cNvPr id="5" name="Rectangle 4"/>
          <p:cNvSpPr/>
          <p:nvPr/>
        </p:nvSpPr>
        <p:spPr>
          <a:xfrm>
            <a:off x="365760" y="1280160"/>
            <a:ext cx="3703320" cy="457200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0352" y="1444752"/>
            <a:ext cx="914400" cy="256032"/>
          </a:xfrm>
          <a:prstGeom prst="rect">
            <a:avLst/>
          </a:prstGeom>
          <a:solidFill>
            <a:srgbClr val="0E3A58"/>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35608"/>
            <a:ext cx="1097280" cy="274320"/>
          </a:xfrm>
          <a:prstGeom prst="rect">
            <a:avLst/>
          </a:prstGeom>
          <a:noFill/>
        </p:spPr>
        <p:txBody>
          <a:bodyPr wrap="square">
            <a:spAutoFit/>
          </a:bodyPr>
          <a:lstStyle/>
          <a:p>
            <a:pPr algn="l"/>
            <a:r>
              <a:rPr sz="750" b="0">
                <a:solidFill>
                  <a:srgbClr val="0EA5E9"/>
                </a:solidFill>
                <a:latin typeface="DM Mono"/>
              </a:rPr>
              <a:t>Priority 1</a:t>
            </a:r>
          </a:p>
        </p:txBody>
      </p:sp>
      <p:sp>
        <p:nvSpPr>
          <p:cNvPr id="8" name="TextBox 7"/>
          <p:cNvSpPr txBox="1"/>
          <p:nvPr/>
        </p:nvSpPr>
        <p:spPr>
          <a:xfrm>
            <a:off x="530352" y="1810512"/>
            <a:ext cx="3374136" cy="411480"/>
          </a:xfrm>
          <a:prstGeom prst="rect">
            <a:avLst/>
          </a:prstGeom>
          <a:noFill/>
        </p:spPr>
        <p:txBody>
          <a:bodyPr wrap="square">
            <a:spAutoFit/>
          </a:bodyPr>
          <a:lstStyle/>
          <a:p>
            <a:pPr algn="l"/>
            <a:r>
              <a:rPr sz="1500" b="1">
                <a:solidFill>
                  <a:srgbClr val="F1F5F9"/>
                </a:solidFill>
                <a:latin typeface="Inter"/>
              </a:rPr>
              <a:t>Authority Engine</a:t>
            </a:r>
          </a:p>
        </p:txBody>
      </p:sp>
      <p:sp>
        <p:nvSpPr>
          <p:cNvPr id="9" name="TextBox 8"/>
          <p:cNvSpPr txBox="1"/>
          <p:nvPr/>
        </p:nvSpPr>
        <p:spPr>
          <a:xfrm>
            <a:off x="530352" y="2286000"/>
            <a:ext cx="3374136" cy="1097280"/>
          </a:xfrm>
          <a:prstGeom prst="rect">
            <a:avLst/>
          </a:prstGeom>
          <a:noFill/>
        </p:spPr>
        <p:txBody>
          <a:bodyPr wrap="square">
            <a:spAutoFit/>
          </a:bodyPr>
          <a:lstStyle/>
          <a:p>
            <a:pPr algn="l"/>
            <a:r>
              <a:rPr sz="1050" b="0">
                <a:solidFill>
                  <a:srgbClr val="94A3B8"/>
                </a:solidFill>
                <a:latin typeface="Inter"/>
              </a:rPr>
              <a:t>Generates founder-authority content: LinkedIn posts, X threads, thought-leadership pieces.</a:t>
            </a:r>
          </a:p>
        </p:txBody>
      </p:sp>
      <p:sp>
        <p:nvSpPr>
          <p:cNvPr id="10" name="Rectangle 9"/>
          <p:cNvSpPr/>
          <p:nvPr/>
        </p:nvSpPr>
        <p:spPr>
          <a:xfrm>
            <a:off x="530352" y="3520440"/>
            <a:ext cx="3374136" cy="9144"/>
          </a:xfrm>
          <a:prstGeom prst="rect">
            <a:avLst/>
          </a:prstGeom>
          <a:solidFill>
            <a:srgbClr val="1E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3657600"/>
            <a:ext cx="3374136" cy="2011680"/>
          </a:xfrm>
          <a:prstGeom prst="rect">
            <a:avLst/>
          </a:prstGeom>
          <a:noFill/>
        </p:spPr>
        <p:txBody>
          <a:bodyPr wrap="square">
            <a:spAutoFit/>
          </a:bodyPr>
          <a:lstStyle/>
          <a:p>
            <a:pPr algn="l"/>
            <a:r>
              <a:rPr sz="900" b="0">
                <a:solidFill>
                  <a:srgbClr val="94A3B8"/>
                </a:solidFill>
                <a:latin typeface="DM Mono"/>
              </a:rPr>
              <a:t>Input: topic, tone, platform
Output: formatted post + revision option
Push: LinkedIn or X (approval-gated)</a:t>
            </a:r>
          </a:p>
        </p:txBody>
      </p:sp>
      <p:sp>
        <p:nvSpPr>
          <p:cNvPr id="12" name="Rectangle 11"/>
          <p:cNvSpPr/>
          <p:nvPr/>
        </p:nvSpPr>
        <p:spPr>
          <a:xfrm>
            <a:off x="4297680" y="1280160"/>
            <a:ext cx="3703320" cy="457200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62272" y="1444752"/>
            <a:ext cx="914400" cy="256032"/>
          </a:xfrm>
          <a:prstGeom prst="rect">
            <a:avLst/>
          </a:prstGeom>
          <a:solidFill>
            <a:srgbClr val="0E3A58"/>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435608"/>
            <a:ext cx="1097280" cy="274320"/>
          </a:xfrm>
          <a:prstGeom prst="rect">
            <a:avLst/>
          </a:prstGeom>
          <a:noFill/>
        </p:spPr>
        <p:txBody>
          <a:bodyPr wrap="square">
            <a:spAutoFit/>
          </a:bodyPr>
          <a:lstStyle/>
          <a:p>
            <a:pPr algn="l"/>
            <a:r>
              <a:rPr sz="750" b="0">
                <a:solidFill>
                  <a:srgbClr val="0EA5E9"/>
                </a:solidFill>
                <a:latin typeface="DM Mono"/>
              </a:rPr>
              <a:t>Priority 2</a:t>
            </a:r>
          </a:p>
        </p:txBody>
      </p:sp>
      <p:sp>
        <p:nvSpPr>
          <p:cNvPr id="15" name="TextBox 14"/>
          <p:cNvSpPr txBox="1"/>
          <p:nvPr/>
        </p:nvSpPr>
        <p:spPr>
          <a:xfrm>
            <a:off x="4462272" y="1810512"/>
            <a:ext cx="3374136" cy="411480"/>
          </a:xfrm>
          <a:prstGeom prst="rect">
            <a:avLst/>
          </a:prstGeom>
          <a:noFill/>
        </p:spPr>
        <p:txBody>
          <a:bodyPr wrap="square">
            <a:spAutoFit/>
          </a:bodyPr>
          <a:lstStyle/>
          <a:p>
            <a:pPr algn="l"/>
            <a:r>
              <a:rPr sz="1500" b="1">
                <a:solidFill>
                  <a:srgbClr val="F1F5F9"/>
                </a:solidFill>
                <a:latin typeface="Inter"/>
              </a:rPr>
              <a:t>Newsletter Engine</a:t>
            </a:r>
          </a:p>
        </p:txBody>
      </p:sp>
      <p:sp>
        <p:nvSpPr>
          <p:cNvPr id="16" name="TextBox 15"/>
          <p:cNvSpPr txBox="1"/>
          <p:nvPr/>
        </p:nvSpPr>
        <p:spPr>
          <a:xfrm>
            <a:off x="4462272" y="2286000"/>
            <a:ext cx="3374136" cy="1097280"/>
          </a:xfrm>
          <a:prstGeom prst="rect">
            <a:avLst/>
          </a:prstGeom>
          <a:noFill/>
        </p:spPr>
        <p:txBody>
          <a:bodyPr wrap="square">
            <a:spAutoFit/>
          </a:bodyPr>
          <a:lstStyle/>
          <a:p>
            <a:pPr algn="l"/>
            <a:r>
              <a:rPr sz="1050" b="0">
                <a:solidFill>
                  <a:srgbClr val="94A3B8"/>
                </a:solidFill>
                <a:latin typeface="Inter"/>
              </a:rPr>
              <a:t>Generates newsletter body copy, three subject-line options, and preview text. Subject lines are selectable cards.</a:t>
            </a:r>
          </a:p>
        </p:txBody>
      </p:sp>
      <p:sp>
        <p:nvSpPr>
          <p:cNvPr id="17" name="Rectangle 16"/>
          <p:cNvSpPr/>
          <p:nvPr/>
        </p:nvSpPr>
        <p:spPr>
          <a:xfrm>
            <a:off x="4462272" y="3520440"/>
            <a:ext cx="3374136" cy="9144"/>
          </a:xfrm>
          <a:prstGeom prst="rect">
            <a:avLst/>
          </a:prstGeom>
          <a:solidFill>
            <a:srgbClr val="1E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3657600"/>
            <a:ext cx="3374136" cy="2011680"/>
          </a:xfrm>
          <a:prstGeom prst="rect">
            <a:avLst/>
          </a:prstGeom>
          <a:noFill/>
        </p:spPr>
        <p:txBody>
          <a:bodyPr wrap="square">
            <a:spAutoFit/>
          </a:bodyPr>
          <a:lstStyle/>
          <a:p>
            <a:pPr algn="l"/>
            <a:r>
              <a:rPr sz="900" b="0">
                <a:solidFill>
                  <a:srgbClr val="94A3B8"/>
                </a:solidFill>
                <a:latin typeface="DM Mono"/>
              </a:rPr>
              <a:t>Input: topic, audience, brand voice
Output: body + 3 subjects + preview text
Push: save as draft or schedule (approval-gated)</a:t>
            </a:r>
          </a:p>
        </p:txBody>
      </p:sp>
      <p:sp>
        <p:nvSpPr>
          <p:cNvPr id="19" name="Rectangle 18"/>
          <p:cNvSpPr/>
          <p:nvPr/>
        </p:nvSpPr>
        <p:spPr>
          <a:xfrm>
            <a:off x="8229600" y="1280160"/>
            <a:ext cx="3703320" cy="457200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94192" y="1444752"/>
            <a:ext cx="914400" cy="256032"/>
          </a:xfrm>
          <a:prstGeom prst="rect">
            <a:avLst/>
          </a:prstGeom>
          <a:solidFill>
            <a:srgbClr val="0E3A58"/>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435608"/>
            <a:ext cx="1097280" cy="274320"/>
          </a:xfrm>
          <a:prstGeom prst="rect">
            <a:avLst/>
          </a:prstGeom>
          <a:noFill/>
        </p:spPr>
        <p:txBody>
          <a:bodyPr wrap="square">
            <a:spAutoFit/>
          </a:bodyPr>
          <a:lstStyle/>
          <a:p>
            <a:pPr algn="l"/>
            <a:r>
              <a:rPr sz="750" b="0">
                <a:solidFill>
                  <a:srgbClr val="0EA5E9"/>
                </a:solidFill>
                <a:latin typeface="DM Mono"/>
              </a:rPr>
              <a:t>Priority 3</a:t>
            </a:r>
          </a:p>
        </p:txBody>
      </p:sp>
      <p:sp>
        <p:nvSpPr>
          <p:cNvPr id="22" name="TextBox 21"/>
          <p:cNvSpPr txBox="1"/>
          <p:nvPr/>
        </p:nvSpPr>
        <p:spPr>
          <a:xfrm>
            <a:off x="8394192" y="1810512"/>
            <a:ext cx="3374136" cy="411480"/>
          </a:xfrm>
          <a:prstGeom prst="rect">
            <a:avLst/>
          </a:prstGeom>
          <a:noFill/>
        </p:spPr>
        <p:txBody>
          <a:bodyPr wrap="square">
            <a:spAutoFit/>
          </a:bodyPr>
          <a:lstStyle/>
          <a:p>
            <a:pPr algn="l"/>
            <a:r>
              <a:rPr sz="1500" b="1">
                <a:solidFill>
                  <a:srgbClr val="F1F5F9"/>
                </a:solidFill>
                <a:latin typeface="Inter"/>
              </a:rPr>
              <a:t>Knowledge Engine Lite</a:t>
            </a:r>
          </a:p>
        </p:txBody>
      </p:sp>
      <p:sp>
        <p:nvSpPr>
          <p:cNvPr id="23" name="TextBox 22"/>
          <p:cNvSpPr txBox="1"/>
          <p:nvPr/>
        </p:nvSpPr>
        <p:spPr>
          <a:xfrm>
            <a:off x="8394192" y="2286000"/>
            <a:ext cx="3374136" cy="1097280"/>
          </a:xfrm>
          <a:prstGeom prst="rect">
            <a:avLst/>
          </a:prstGeom>
          <a:noFill/>
        </p:spPr>
        <p:txBody>
          <a:bodyPr wrap="square">
            <a:spAutoFit/>
          </a:bodyPr>
          <a:lstStyle/>
          <a:p>
            <a:pPr algn="l"/>
            <a:r>
              <a:rPr sz="1050" b="0">
                <a:solidFill>
                  <a:srgbClr val="94A3B8"/>
                </a:solidFill>
                <a:latin typeface="Inter"/>
              </a:rPr>
              <a:t>Generates business KB entries. Destination picker: Google Drive or GitHub. Save receipt with file path and asset link.</a:t>
            </a:r>
          </a:p>
        </p:txBody>
      </p:sp>
      <p:sp>
        <p:nvSpPr>
          <p:cNvPr id="24" name="Rectangle 23"/>
          <p:cNvSpPr/>
          <p:nvPr/>
        </p:nvSpPr>
        <p:spPr>
          <a:xfrm>
            <a:off x="8394192" y="3520440"/>
            <a:ext cx="3374136" cy="9144"/>
          </a:xfrm>
          <a:prstGeom prst="rect">
            <a:avLst/>
          </a:prstGeom>
          <a:solidFill>
            <a:srgbClr val="1E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94192" y="3657600"/>
            <a:ext cx="3374136" cy="2011680"/>
          </a:xfrm>
          <a:prstGeom prst="rect">
            <a:avLst/>
          </a:prstGeom>
          <a:noFill/>
        </p:spPr>
        <p:txBody>
          <a:bodyPr wrap="square">
            <a:spAutoFit/>
          </a:bodyPr>
          <a:lstStyle/>
          <a:p>
            <a:pPr algn="l"/>
            <a:r>
              <a:rPr sz="900" b="0">
                <a:solidFill>
                  <a:srgbClr val="94A3B8"/>
                </a:solidFill>
                <a:latin typeface="DM Mono"/>
              </a:rPr>
              <a:t>Input: topic, business context
Output: KB entry (formatted markdown)
Push: Drive or GitHub (approval-gated)</a:t>
            </a:r>
          </a:p>
        </p:txBody>
      </p:sp>
      <p:sp>
        <p:nvSpPr>
          <p:cNvPr id="26" name="TextBox 25"/>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a:spAutoFit/>
          </a:bodyPr>
          <a:lstStyle/>
          <a:p>
            <a:pPr algn="l"/>
            <a:r>
              <a:rPr sz="900" b="0">
                <a:solidFill>
                  <a:srgbClr val="0EA5E9"/>
                </a:solidFill>
                <a:latin typeface="DM Mono"/>
              </a:rPr>
              <a:t>BACKEND ARCHITECTURE  /  PROVIDER-AGNOSTIC LLM ROUTING</a:t>
            </a:r>
          </a:p>
        </p:txBody>
      </p:sp>
      <p:sp>
        <p:nvSpPr>
          <p:cNvPr id="4" name="TextBox 3"/>
          <p:cNvSpPr txBox="1"/>
          <p:nvPr/>
        </p:nvSpPr>
        <p:spPr>
          <a:xfrm>
            <a:off x="457200" y="594360"/>
            <a:ext cx="10972800" cy="502920"/>
          </a:xfrm>
          <a:prstGeom prst="rect">
            <a:avLst/>
          </a:prstGeom>
          <a:noFill/>
        </p:spPr>
        <p:txBody>
          <a:bodyPr wrap="square">
            <a:spAutoFit/>
          </a:bodyPr>
          <a:lstStyle/>
          <a:p>
            <a:pPr algn="l"/>
            <a:r>
              <a:rPr sz="2800" b="1">
                <a:solidFill>
                  <a:srgbClr val="F1F5F9"/>
                </a:solidFill>
                <a:latin typeface="Inter"/>
              </a:rPr>
              <a:t>Frontend never calls an LLM provider directly</a:t>
            </a:r>
          </a:p>
        </p:txBody>
      </p:sp>
      <p:sp>
        <p:nvSpPr>
          <p:cNvPr id="5" name="TextBox 4"/>
          <p:cNvSpPr txBox="1"/>
          <p:nvPr/>
        </p:nvSpPr>
        <p:spPr>
          <a:xfrm>
            <a:off x="457200" y="1097280"/>
            <a:ext cx="10515600" cy="320040"/>
          </a:xfrm>
          <a:prstGeom prst="rect">
            <a:avLst/>
          </a:prstGeom>
          <a:noFill/>
        </p:spPr>
        <p:txBody>
          <a:bodyPr wrap="square">
            <a:spAutoFit/>
          </a:bodyPr>
          <a:lstStyle/>
          <a:p>
            <a:pPr algn="l"/>
            <a:r>
              <a:rPr sz="1200" b="0">
                <a:solidFill>
                  <a:srgbClr val="94A3B8"/>
                </a:solidFill>
                <a:latin typeface="Inter"/>
              </a:rPr>
              <a:t>One provider-agnostic contract. Adding Claude when OpenAI is live = one config entry, not a rebuild.</a:t>
            </a:r>
          </a:p>
        </p:txBody>
      </p:sp>
      <p:sp>
        <p:nvSpPr>
          <p:cNvPr id="6" name="Rectangle 5"/>
          <p:cNvSpPr/>
          <p:nvPr/>
        </p:nvSpPr>
        <p:spPr>
          <a:xfrm>
            <a:off x="320040" y="1828800"/>
            <a:ext cx="2148840" cy="1463040"/>
          </a:xfrm>
          <a:prstGeom prst="rect">
            <a:avLst/>
          </a:prstGeom>
          <a:solidFill>
            <a:srgbClr val="1A2236"/>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965960"/>
            <a:ext cx="1929384" cy="365760"/>
          </a:xfrm>
          <a:prstGeom prst="rect">
            <a:avLst/>
          </a:prstGeom>
          <a:noFill/>
        </p:spPr>
        <p:txBody>
          <a:bodyPr wrap="square">
            <a:spAutoFit/>
          </a:bodyPr>
          <a:lstStyle/>
          <a:p>
            <a:pPr algn="l"/>
            <a:r>
              <a:rPr sz="1100" b="1">
                <a:solidFill>
                  <a:srgbClr val="F1F5F9"/>
                </a:solidFill>
                <a:latin typeface="Inter"/>
              </a:rPr>
              <a:t>Next.js / React</a:t>
            </a:r>
          </a:p>
        </p:txBody>
      </p:sp>
      <p:sp>
        <p:nvSpPr>
          <p:cNvPr id="8" name="TextBox 7"/>
          <p:cNvSpPr txBox="1"/>
          <p:nvPr/>
        </p:nvSpPr>
        <p:spPr>
          <a:xfrm>
            <a:off x="429768" y="2423160"/>
            <a:ext cx="1929384" cy="731520"/>
          </a:xfrm>
          <a:prstGeom prst="rect">
            <a:avLst/>
          </a:prstGeom>
          <a:noFill/>
        </p:spPr>
        <p:txBody>
          <a:bodyPr wrap="square">
            <a:spAutoFit/>
          </a:bodyPr>
          <a:lstStyle/>
          <a:p>
            <a:pPr algn="l"/>
            <a:r>
              <a:rPr sz="850" b="0">
                <a:solidFill>
                  <a:srgbClr val="94A3B8"/>
                </a:solidFill>
                <a:latin typeface="DM Mono"/>
              </a:rPr>
              <a:t>GHL iframe embed
no LLM calls</a:t>
            </a:r>
          </a:p>
        </p:txBody>
      </p:sp>
      <p:sp>
        <p:nvSpPr>
          <p:cNvPr id="9" name="TextBox 8"/>
          <p:cNvSpPr txBox="1"/>
          <p:nvPr/>
        </p:nvSpPr>
        <p:spPr>
          <a:xfrm>
            <a:off x="2505456" y="2423160"/>
            <a:ext cx="164592" cy="320040"/>
          </a:xfrm>
          <a:prstGeom prst="rect">
            <a:avLst/>
          </a:prstGeom>
          <a:noFill/>
        </p:spPr>
        <p:txBody>
          <a:bodyPr wrap="square">
            <a:spAutoFit/>
          </a:bodyPr>
          <a:lstStyle/>
          <a:p>
            <a:pPr algn="l"/>
            <a:r>
              <a:rPr sz="1000" b="0">
                <a:solidFill>
                  <a:srgbClr val="475569"/>
                </a:solidFill>
                <a:latin typeface="DM Mono"/>
              </a:rPr>
              <a:t>&gt;&gt;</a:t>
            </a:r>
          </a:p>
        </p:txBody>
      </p:sp>
      <p:sp>
        <p:nvSpPr>
          <p:cNvPr id="10" name="Rectangle 9"/>
          <p:cNvSpPr/>
          <p:nvPr/>
        </p:nvSpPr>
        <p:spPr>
          <a:xfrm>
            <a:off x="2633472" y="1828800"/>
            <a:ext cx="2148840" cy="1463040"/>
          </a:xfrm>
          <a:prstGeom prst="rect">
            <a:avLst/>
          </a:prstGeom>
          <a:solidFill>
            <a:srgbClr val="0EA5E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965960"/>
            <a:ext cx="1929384" cy="365760"/>
          </a:xfrm>
          <a:prstGeom prst="rect">
            <a:avLst/>
          </a:prstGeom>
          <a:noFill/>
        </p:spPr>
        <p:txBody>
          <a:bodyPr wrap="square">
            <a:spAutoFit/>
          </a:bodyPr>
          <a:lstStyle/>
          <a:p>
            <a:pPr algn="l"/>
            <a:r>
              <a:rPr sz="1100" b="1">
                <a:solidFill>
                  <a:srgbClr val="FFFFFF"/>
                </a:solidFill>
                <a:latin typeface="Inter"/>
              </a:rPr>
              <a:t>POST /route</a:t>
            </a:r>
          </a:p>
        </p:txBody>
      </p:sp>
      <p:sp>
        <p:nvSpPr>
          <p:cNvPr id="12" name="TextBox 11"/>
          <p:cNvSpPr txBox="1"/>
          <p:nvPr/>
        </p:nvSpPr>
        <p:spPr>
          <a:xfrm>
            <a:off x="2743200" y="2423160"/>
            <a:ext cx="1929384" cy="731520"/>
          </a:xfrm>
          <a:prstGeom prst="rect">
            <a:avLst/>
          </a:prstGeom>
          <a:noFill/>
        </p:spPr>
        <p:txBody>
          <a:bodyPr wrap="square">
            <a:spAutoFit/>
          </a:bodyPr>
          <a:lstStyle/>
          <a:p>
            <a:pPr algn="l"/>
            <a:r>
              <a:rPr sz="850" b="0">
                <a:solidFill>
                  <a:srgbClr val="BAE4F7"/>
                </a:solidFill>
                <a:latin typeface="DM Mono"/>
              </a:rPr>
              <a:t>{ engine, payload,
workspace_id }</a:t>
            </a:r>
          </a:p>
        </p:txBody>
      </p:sp>
      <p:sp>
        <p:nvSpPr>
          <p:cNvPr id="13" name="TextBox 12"/>
          <p:cNvSpPr txBox="1"/>
          <p:nvPr/>
        </p:nvSpPr>
        <p:spPr>
          <a:xfrm>
            <a:off x="4818888" y="2423160"/>
            <a:ext cx="164592" cy="320040"/>
          </a:xfrm>
          <a:prstGeom prst="rect">
            <a:avLst/>
          </a:prstGeom>
          <a:noFill/>
        </p:spPr>
        <p:txBody>
          <a:bodyPr wrap="square">
            <a:spAutoFit/>
          </a:bodyPr>
          <a:lstStyle/>
          <a:p>
            <a:pPr algn="l"/>
            <a:r>
              <a:rPr sz="1000" b="0">
                <a:solidFill>
                  <a:srgbClr val="475569"/>
                </a:solidFill>
                <a:latin typeface="DM Mono"/>
              </a:rPr>
              <a:t>&gt;&gt;</a:t>
            </a:r>
          </a:p>
        </p:txBody>
      </p:sp>
      <p:sp>
        <p:nvSpPr>
          <p:cNvPr id="14" name="Rectangle 13"/>
          <p:cNvSpPr/>
          <p:nvPr/>
        </p:nvSpPr>
        <p:spPr>
          <a:xfrm>
            <a:off x="4946904" y="1828800"/>
            <a:ext cx="2148840" cy="1463040"/>
          </a:xfrm>
          <a:prstGeom prst="rect">
            <a:avLst/>
          </a:prstGeom>
          <a:solidFill>
            <a:srgbClr val="1A2236"/>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56632" y="1965960"/>
            <a:ext cx="1929384" cy="365760"/>
          </a:xfrm>
          <a:prstGeom prst="rect">
            <a:avLst/>
          </a:prstGeom>
          <a:noFill/>
        </p:spPr>
        <p:txBody>
          <a:bodyPr wrap="square">
            <a:spAutoFit/>
          </a:bodyPr>
          <a:lstStyle/>
          <a:p>
            <a:pPr algn="l"/>
            <a:r>
              <a:rPr sz="1100" b="1">
                <a:solidFill>
                  <a:srgbClr val="F1F5F9"/>
                </a:solidFill>
                <a:latin typeface="Inter"/>
              </a:rPr>
              <a:t>LLM Router</a:t>
            </a:r>
          </a:p>
        </p:txBody>
      </p:sp>
      <p:sp>
        <p:nvSpPr>
          <p:cNvPr id="16" name="TextBox 15"/>
          <p:cNvSpPr txBox="1"/>
          <p:nvPr/>
        </p:nvSpPr>
        <p:spPr>
          <a:xfrm>
            <a:off x="5056632" y="2423160"/>
            <a:ext cx="1929384" cy="731520"/>
          </a:xfrm>
          <a:prstGeom prst="rect">
            <a:avLst/>
          </a:prstGeom>
          <a:noFill/>
        </p:spPr>
        <p:txBody>
          <a:bodyPr wrap="square">
            <a:spAutoFit/>
          </a:bodyPr>
          <a:lstStyle/>
          <a:p>
            <a:pPr algn="l"/>
            <a:r>
              <a:rPr sz="850" b="0">
                <a:solidFill>
                  <a:srgbClr val="94A3B8"/>
                </a:solidFill>
                <a:latin typeface="DM Mono"/>
              </a:rPr>
              <a:t>selects model from
config registry</a:t>
            </a:r>
          </a:p>
        </p:txBody>
      </p:sp>
      <p:sp>
        <p:nvSpPr>
          <p:cNvPr id="17" name="TextBox 16"/>
          <p:cNvSpPr txBox="1"/>
          <p:nvPr/>
        </p:nvSpPr>
        <p:spPr>
          <a:xfrm>
            <a:off x="7132320" y="2423160"/>
            <a:ext cx="164592" cy="320040"/>
          </a:xfrm>
          <a:prstGeom prst="rect">
            <a:avLst/>
          </a:prstGeom>
          <a:noFill/>
        </p:spPr>
        <p:txBody>
          <a:bodyPr wrap="square">
            <a:spAutoFit/>
          </a:bodyPr>
          <a:lstStyle/>
          <a:p>
            <a:pPr algn="l"/>
            <a:r>
              <a:rPr sz="1000" b="0">
                <a:solidFill>
                  <a:srgbClr val="475569"/>
                </a:solidFill>
                <a:latin typeface="DM Mono"/>
              </a:rPr>
              <a:t>&gt;&gt;</a:t>
            </a:r>
          </a:p>
        </p:txBody>
      </p:sp>
      <p:sp>
        <p:nvSpPr>
          <p:cNvPr id="18" name="Rectangle 17"/>
          <p:cNvSpPr/>
          <p:nvPr/>
        </p:nvSpPr>
        <p:spPr>
          <a:xfrm>
            <a:off x="7260336" y="1828800"/>
            <a:ext cx="2148840" cy="1463040"/>
          </a:xfrm>
          <a:prstGeom prst="rect">
            <a:avLst/>
          </a:prstGeom>
          <a:solidFill>
            <a:srgbClr val="1A2236"/>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0064" y="1965960"/>
            <a:ext cx="1929384" cy="365760"/>
          </a:xfrm>
          <a:prstGeom prst="rect">
            <a:avLst/>
          </a:prstGeom>
          <a:noFill/>
        </p:spPr>
        <p:txBody>
          <a:bodyPr wrap="square">
            <a:spAutoFit/>
          </a:bodyPr>
          <a:lstStyle/>
          <a:p>
            <a:pPr algn="l"/>
            <a:r>
              <a:rPr sz="1100" b="1">
                <a:solidFill>
                  <a:srgbClr val="F1F5F9"/>
                </a:solidFill>
                <a:latin typeface="Inter"/>
              </a:rPr>
              <a:t>Provider API</a:t>
            </a:r>
          </a:p>
        </p:txBody>
      </p:sp>
      <p:sp>
        <p:nvSpPr>
          <p:cNvPr id="20" name="TextBox 19"/>
          <p:cNvSpPr txBox="1"/>
          <p:nvPr/>
        </p:nvSpPr>
        <p:spPr>
          <a:xfrm>
            <a:off x="7370064" y="2423160"/>
            <a:ext cx="1929384" cy="731520"/>
          </a:xfrm>
          <a:prstGeom prst="rect">
            <a:avLst/>
          </a:prstGeom>
          <a:noFill/>
        </p:spPr>
        <p:txBody>
          <a:bodyPr wrap="square">
            <a:spAutoFit/>
          </a:bodyPr>
          <a:lstStyle/>
          <a:p>
            <a:pPr algn="l"/>
            <a:r>
              <a:rPr sz="850" b="0">
                <a:solidFill>
                  <a:srgbClr val="94A3B8"/>
                </a:solidFill>
                <a:latin typeface="DM Mono"/>
              </a:rPr>
              <a:t>OpenAI / Claude /
local model</a:t>
            </a:r>
          </a:p>
        </p:txBody>
      </p:sp>
      <p:sp>
        <p:nvSpPr>
          <p:cNvPr id="21" name="TextBox 20"/>
          <p:cNvSpPr txBox="1"/>
          <p:nvPr/>
        </p:nvSpPr>
        <p:spPr>
          <a:xfrm>
            <a:off x="9445752" y="2423160"/>
            <a:ext cx="164592" cy="320040"/>
          </a:xfrm>
          <a:prstGeom prst="rect">
            <a:avLst/>
          </a:prstGeom>
          <a:noFill/>
        </p:spPr>
        <p:txBody>
          <a:bodyPr wrap="square">
            <a:spAutoFit/>
          </a:bodyPr>
          <a:lstStyle/>
          <a:p>
            <a:pPr algn="l"/>
            <a:r>
              <a:rPr sz="1000" b="0">
                <a:solidFill>
                  <a:srgbClr val="475569"/>
                </a:solidFill>
                <a:latin typeface="DM Mono"/>
              </a:rPr>
              <a:t>&gt;&gt;</a:t>
            </a:r>
          </a:p>
        </p:txBody>
      </p:sp>
      <p:sp>
        <p:nvSpPr>
          <p:cNvPr id="22" name="Rectangle 21"/>
          <p:cNvSpPr/>
          <p:nvPr/>
        </p:nvSpPr>
        <p:spPr>
          <a:xfrm>
            <a:off x="9573768" y="1828800"/>
            <a:ext cx="2148840" cy="1463040"/>
          </a:xfrm>
          <a:prstGeom prst="rect">
            <a:avLst/>
          </a:prstGeom>
          <a:solidFill>
            <a:srgbClr val="1A2236"/>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83496" y="1965960"/>
            <a:ext cx="1929384" cy="365760"/>
          </a:xfrm>
          <a:prstGeom prst="rect">
            <a:avLst/>
          </a:prstGeom>
          <a:noFill/>
        </p:spPr>
        <p:txBody>
          <a:bodyPr wrap="square">
            <a:spAutoFit/>
          </a:bodyPr>
          <a:lstStyle/>
          <a:p>
            <a:pPr algn="l"/>
            <a:r>
              <a:rPr sz="1100" b="1">
                <a:solidFill>
                  <a:srgbClr val="F1F5F9"/>
                </a:solidFill>
                <a:latin typeface="Inter"/>
              </a:rPr>
              <a:t>Supabase Log</a:t>
            </a:r>
          </a:p>
        </p:txBody>
      </p:sp>
      <p:sp>
        <p:nvSpPr>
          <p:cNvPr id="24" name="TextBox 23"/>
          <p:cNvSpPr txBox="1"/>
          <p:nvPr/>
        </p:nvSpPr>
        <p:spPr>
          <a:xfrm>
            <a:off x="9683496" y="2423160"/>
            <a:ext cx="1929384" cy="731520"/>
          </a:xfrm>
          <a:prstGeom prst="rect">
            <a:avLst/>
          </a:prstGeom>
          <a:noFill/>
        </p:spPr>
        <p:txBody>
          <a:bodyPr wrap="square">
            <a:spAutoFit/>
          </a:bodyPr>
          <a:lstStyle/>
          <a:p>
            <a:pPr algn="l"/>
            <a:r>
              <a:rPr sz="850" b="0">
                <a:solidFill>
                  <a:srgbClr val="94A3B8"/>
                </a:solidFill>
                <a:latin typeface="DM Mono"/>
              </a:rPr>
              <a:t>run_id, model, tokens
cost, status</a:t>
            </a:r>
          </a:p>
        </p:txBody>
      </p:sp>
      <p:sp>
        <p:nvSpPr>
          <p:cNvPr id="25" name="Rectangle 24"/>
          <p:cNvSpPr/>
          <p:nvPr/>
        </p:nvSpPr>
        <p:spPr>
          <a:xfrm>
            <a:off x="365760" y="3657600"/>
            <a:ext cx="11430000" cy="548640"/>
          </a:xfrm>
          <a:prstGeom prst="rect">
            <a:avLst/>
          </a:prstGeom>
          <a:solidFill>
            <a:srgbClr val="141929"/>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785616"/>
            <a:ext cx="2286000" cy="320040"/>
          </a:xfrm>
          <a:prstGeom prst="rect">
            <a:avLst/>
          </a:prstGeom>
          <a:noFill/>
        </p:spPr>
        <p:txBody>
          <a:bodyPr wrap="square">
            <a:spAutoFit/>
          </a:bodyPr>
          <a:lstStyle/>
          <a:p>
            <a:pPr algn="l"/>
            <a:r>
              <a:rPr sz="900" b="1">
                <a:solidFill>
                  <a:srgbClr val="06B6D4"/>
                </a:solidFill>
                <a:latin typeface="DM Mono"/>
              </a:rPr>
              <a:t>Frontend</a:t>
            </a:r>
          </a:p>
        </p:txBody>
      </p:sp>
      <p:sp>
        <p:nvSpPr>
          <p:cNvPr id="27" name="TextBox 26"/>
          <p:cNvSpPr txBox="1"/>
          <p:nvPr/>
        </p:nvSpPr>
        <p:spPr>
          <a:xfrm>
            <a:off x="2834640" y="3785616"/>
            <a:ext cx="8778240" cy="320040"/>
          </a:xfrm>
          <a:prstGeom prst="rect">
            <a:avLst/>
          </a:prstGeom>
          <a:noFill/>
        </p:spPr>
        <p:txBody>
          <a:bodyPr wrap="square">
            <a:spAutoFit/>
          </a:bodyPr>
          <a:lstStyle/>
          <a:p>
            <a:pPr algn="l"/>
            <a:r>
              <a:rPr sz="1000" b="0">
                <a:solidFill>
                  <a:srgbClr val="94A3B8"/>
                </a:solidFill>
                <a:latin typeface="Inter"/>
              </a:rPr>
              <a:t>Next.js / React in GHL iframe. Calls only /route, never any provider.</a:t>
            </a:r>
          </a:p>
        </p:txBody>
      </p:sp>
      <p:sp>
        <p:nvSpPr>
          <p:cNvPr id="28" name="Rectangle 27"/>
          <p:cNvSpPr/>
          <p:nvPr/>
        </p:nvSpPr>
        <p:spPr>
          <a:xfrm>
            <a:off x="365760" y="4206240"/>
            <a:ext cx="11430000" cy="548640"/>
          </a:xfrm>
          <a:prstGeom prst="rect">
            <a:avLst/>
          </a:prstGeom>
          <a:solidFill>
            <a:srgbClr val="1A2236"/>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334256"/>
            <a:ext cx="2286000" cy="320040"/>
          </a:xfrm>
          <a:prstGeom prst="rect">
            <a:avLst/>
          </a:prstGeom>
          <a:noFill/>
        </p:spPr>
        <p:txBody>
          <a:bodyPr wrap="square">
            <a:spAutoFit/>
          </a:bodyPr>
          <a:lstStyle/>
          <a:p>
            <a:pPr algn="l"/>
            <a:r>
              <a:rPr sz="900" b="1">
                <a:solidFill>
                  <a:srgbClr val="06B6D4"/>
                </a:solidFill>
                <a:latin typeface="DM Mono"/>
              </a:rPr>
              <a:t>Router (AWS Lambda)</a:t>
            </a:r>
          </a:p>
        </p:txBody>
      </p:sp>
      <p:sp>
        <p:nvSpPr>
          <p:cNvPr id="30" name="TextBox 29"/>
          <p:cNvSpPr txBox="1"/>
          <p:nvPr/>
        </p:nvSpPr>
        <p:spPr>
          <a:xfrm>
            <a:off x="2834640" y="4334256"/>
            <a:ext cx="8778240" cy="320040"/>
          </a:xfrm>
          <a:prstGeom prst="rect">
            <a:avLst/>
          </a:prstGeom>
          <a:noFill/>
        </p:spPr>
        <p:txBody>
          <a:bodyPr wrap="square">
            <a:spAutoFit/>
          </a:bodyPr>
          <a:lstStyle/>
          <a:p>
            <a:pPr algn="l"/>
            <a:r>
              <a:rPr sz="1000" b="0">
                <a:solidFill>
                  <a:srgbClr val="94A3B8"/>
                </a:solidFill>
                <a:latin typeface="Inter"/>
              </a:rPr>
              <a:t>Provider-agnostic. Config-driven model selection. Logs every run.</a:t>
            </a:r>
          </a:p>
        </p:txBody>
      </p:sp>
      <p:sp>
        <p:nvSpPr>
          <p:cNvPr id="31" name="Rectangle 30"/>
          <p:cNvSpPr/>
          <p:nvPr/>
        </p:nvSpPr>
        <p:spPr>
          <a:xfrm>
            <a:off x="365760" y="4754880"/>
            <a:ext cx="11430000" cy="548640"/>
          </a:xfrm>
          <a:prstGeom prst="rect">
            <a:avLst/>
          </a:prstGeom>
          <a:solidFill>
            <a:srgbClr val="141929"/>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4882896"/>
            <a:ext cx="2286000" cy="320040"/>
          </a:xfrm>
          <a:prstGeom prst="rect">
            <a:avLst/>
          </a:prstGeom>
          <a:noFill/>
        </p:spPr>
        <p:txBody>
          <a:bodyPr wrap="square">
            <a:spAutoFit/>
          </a:bodyPr>
          <a:lstStyle/>
          <a:p>
            <a:pPr algn="l"/>
            <a:r>
              <a:rPr sz="900" b="1">
                <a:solidFill>
                  <a:srgbClr val="06B6D4"/>
                </a:solidFill>
                <a:latin typeface="DM Mono"/>
              </a:rPr>
              <a:t>Data (Supabase)</a:t>
            </a:r>
          </a:p>
        </p:txBody>
      </p:sp>
      <p:sp>
        <p:nvSpPr>
          <p:cNvPr id="33" name="TextBox 32"/>
          <p:cNvSpPr txBox="1"/>
          <p:nvPr/>
        </p:nvSpPr>
        <p:spPr>
          <a:xfrm>
            <a:off x="2834640" y="4882896"/>
            <a:ext cx="8778240" cy="320040"/>
          </a:xfrm>
          <a:prstGeom prst="rect">
            <a:avLst/>
          </a:prstGeom>
          <a:noFill/>
        </p:spPr>
        <p:txBody>
          <a:bodyPr wrap="square">
            <a:spAutoFit/>
          </a:bodyPr>
          <a:lstStyle/>
          <a:p>
            <a:pPr algn="l"/>
            <a:r>
              <a:rPr sz="1000" b="0">
                <a:solidFill>
                  <a:srgbClr val="94A3B8"/>
                </a:solidFill>
                <a:latin typeface="Inter"/>
              </a:rPr>
              <a:t>Runs, outputs, logs, workspace RLS. Your existing infrastructure.</a:t>
            </a:r>
          </a:p>
        </p:txBody>
      </p:sp>
      <p:sp>
        <p:nvSpPr>
          <p:cNvPr id="34" name="Rectangle 33"/>
          <p:cNvSpPr/>
          <p:nvPr/>
        </p:nvSpPr>
        <p:spPr>
          <a:xfrm>
            <a:off x="365760" y="5303520"/>
            <a:ext cx="11430000" cy="548640"/>
          </a:xfrm>
          <a:prstGeom prst="rect">
            <a:avLst/>
          </a:prstGeom>
          <a:solidFill>
            <a:srgbClr val="1A2236"/>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5431536"/>
            <a:ext cx="2286000" cy="320040"/>
          </a:xfrm>
          <a:prstGeom prst="rect">
            <a:avLst/>
          </a:prstGeom>
          <a:noFill/>
        </p:spPr>
        <p:txBody>
          <a:bodyPr wrap="square">
            <a:spAutoFit/>
          </a:bodyPr>
          <a:lstStyle/>
          <a:p>
            <a:pPr algn="l"/>
            <a:r>
              <a:rPr sz="900" b="1">
                <a:solidFill>
                  <a:srgbClr val="06B6D4"/>
                </a:solidFill>
                <a:latin typeface="DM Mono"/>
              </a:rPr>
              <a:t>Integrations</a:t>
            </a:r>
          </a:p>
        </p:txBody>
      </p:sp>
      <p:sp>
        <p:nvSpPr>
          <p:cNvPr id="36" name="TextBox 35"/>
          <p:cNvSpPr txBox="1"/>
          <p:nvPr/>
        </p:nvSpPr>
        <p:spPr>
          <a:xfrm>
            <a:off x="2834640" y="5431536"/>
            <a:ext cx="8778240" cy="320040"/>
          </a:xfrm>
          <a:prstGeom prst="rect">
            <a:avLst/>
          </a:prstGeom>
          <a:noFill/>
        </p:spPr>
        <p:txBody>
          <a:bodyPr wrap="square">
            <a:spAutoFit/>
          </a:bodyPr>
          <a:lstStyle/>
          <a:p>
            <a:pPr algn="l"/>
            <a:r>
              <a:rPr sz="1000" b="0">
                <a:solidFill>
                  <a:srgbClr val="94A3B8"/>
                </a:solidFill>
                <a:latin typeface="Inter"/>
              </a:rPr>
              <a:t>Drive + GitHub OAuth server-side. LinkedIn + X via approved APIs.</a:t>
            </a:r>
          </a:p>
        </p:txBody>
      </p:sp>
      <p:sp>
        <p:nvSpPr>
          <p:cNvPr id="37" name="TextBox 36"/>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a:spAutoFit/>
          </a:bodyPr>
          <a:lstStyle/>
          <a:p>
            <a:pPr algn="l"/>
            <a:r>
              <a:rPr sz="900" b="0">
                <a:solidFill>
                  <a:srgbClr val="0EA5E9"/>
                </a:solidFill>
                <a:latin typeface="DM Mono"/>
              </a:rPr>
              <a:t>APPROVAL GATING  /  TWO INDEPENDENT LAYERS</a:t>
            </a:r>
          </a:p>
        </p:txBody>
      </p:sp>
      <p:sp>
        <p:nvSpPr>
          <p:cNvPr id="4" name="TextBox 3"/>
          <p:cNvSpPr txBox="1"/>
          <p:nvPr/>
        </p:nvSpPr>
        <p:spPr>
          <a:xfrm>
            <a:off x="457200" y="594360"/>
            <a:ext cx="10972800" cy="502920"/>
          </a:xfrm>
          <a:prstGeom prst="rect">
            <a:avLst/>
          </a:prstGeom>
          <a:noFill/>
        </p:spPr>
        <p:txBody>
          <a:bodyPr wrap="square">
            <a:spAutoFit/>
          </a:bodyPr>
          <a:lstStyle/>
          <a:p>
            <a:pPr algn="l"/>
            <a:r>
              <a:rPr sz="2800" b="1">
                <a:solidFill>
                  <a:srgbClr val="F1F5F9"/>
                </a:solidFill>
                <a:latin typeface="Inter"/>
              </a:rPr>
              <a:t>Outputs cannot publish without explicit user approval</a:t>
            </a:r>
          </a:p>
        </p:txBody>
      </p:sp>
      <p:sp>
        <p:nvSpPr>
          <p:cNvPr id="5" name="TextBox 4"/>
          <p:cNvSpPr txBox="1"/>
          <p:nvPr/>
        </p:nvSpPr>
        <p:spPr>
          <a:xfrm>
            <a:off x="457200" y="1097280"/>
            <a:ext cx="10515600" cy="320040"/>
          </a:xfrm>
          <a:prstGeom prst="rect">
            <a:avLst/>
          </a:prstGeom>
          <a:noFill/>
        </p:spPr>
        <p:txBody>
          <a:bodyPr wrap="square">
            <a:spAutoFit/>
          </a:bodyPr>
          <a:lstStyle/>
          <a:p>
            <a:pPr algn="l"/>
            <a:r>
              <a:rPr sz="1200" b="0">
                <a:solidFill>
                  <a:srgbClr val="94A3B8"/>
                </a:solidFill>
                <a:latin typeface="Inter"/>
              </a:rPr>
              <a:t>Frontend status machine + backend server-side guard enforce the same rule independently.</a:t>
            </a:r>
          </a:p>
        </p:txBody>
      </p:sp>
      <p:sp>
        <p:nvSpPr>
          <p:cNvPr id="6" name="Rectangle 5"/>
          <p:cNvSpPr/>
          <p:nvPr/>
        </p:nvSpPr>
        <p:spPr>
          <a:xfrm>
            <a:off x="365760" y="1691640"/>
            <a:ext cx="3566160" cy="347472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91640"/>
            <a:ext cx="356616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874520"/>
            <a:ext cx="3236976" cy="411480"/>
          </a:xfrm>
          <a:prstGeom prst="rect">
            <a:avLst/>
          </a:prstGeom>
          <a:noFill/>
        </p:spPr>
        <p:txBody>
          <a:bodyPr wrap="square">
            <a:spAutoFit/>
          </a:bodyPr>
          <a:lstStyle/>
          <a:p>
            <a:pPr algn="l"/>
            <a:r>
              <a:rPr sz="1300" b="1">
                <a:solidFill>
                  <a:srgbClr val="0EA5E9"/>
                </a:solidFill>
                <a:latin typeface="Inter"/>
              </a:rPr>
              <a:t>Frontend Status Machine</a:t>
            </a:r>
          </a:p>
        </p:txBody>
      </p:sp>
      <p:sp>
        <p:nvSpPr>
          <p:cNvPr id="9" name="TextBox 8"/>
          <p:cNvSpPr txBox="1"/>
          <p:nvPr/>
        </p:nvSpPr>
        <p:spPr>
          <a:xfrm>
            <a:off x="530352" y="2468880"/>
            <a:ext cx="3236976" cy="2468880"/>
          </a:xfrm>
          <a:prstGeom prst="rect">
            <a:avLst/>
          </a:prstGeom>
          <a:noFill/>
        </p:spPr>
        <p:txBody>
          <a:bodyPr wrap="square">
            <a:spAutoFit/>
          </a:bodyPr>
          <a:lstStyle/>
          <a:p>
            <a:pPr algn="l"/>
            <a:r>
              <a:rPr sz="1050" b="0">
                <a:solidFill>
                  <a:srgbClr val="94A3B8"/>
                </a:solidFill>
                <a:latin typeface="Inter"/>
              </a:rPr>
              <a:t>Push/Save button rendered disabled + cursor: not-allowed unless status = 'approved'. No code path advances to 'pushed' without explicit Approve click. Verify in the demo: try clicking Push before Approve.</a:t>
            </a:r>
          </a:p>
        </p:txBody>
      </p:sp>
      <p:sp>
        <p:nvSpPr>
          <p:cNvPr id="10" name="Rectangle 9"/>
          <p:cNvSpPr/>
          <p:nvPr/>
        </p:nvSpPr>
        <p:spPr>
          <a:xfrm>
            <a:off x="4206240" y="1691640"/>
            <a:ext cx="3566160" cy="347472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691640"/>
            <a:ext cx="356616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2" y="1874520"/>
            <a:ext cx="3236976" cy="411480"/>
          </a:xfrm>
          <a:prstGeom prst="rect">
            <a:avLst/>
          </a:prstGeom>
          <a:noFill/>
        </p:spPr>
        <p:txBody>
          <a:bodyPr wrap="square">
            <a:spAutoFit/>
          </a:bodyPr>
          <a:lstStyle/>
          <a:p>
            <a:pPr algn="l"/>
            <a:r>
              <a:rPr sz="1300" b="1">
                <a:solidFill>
                  <a:srgbClr val="06B6D4"/>
                </a:solidFill>
                <a:latin typeface="Inter"/>
              </a:rPr>
              <a:t>Backend Server-Side Guard</a:t>
            </a:r>
          </a:p>
        </p:txBody>
      </p:sp>
      <p:sp>
        <p:nvSpPr>
          <p:cNvPr id="13" name="TextBox 12"/>
          <p:cNvSpPr txBox="1"/>
          <p:nvPr/>
        </p:nvSpPr>
        <p:spPr>
          <a:xfrm>
            <a:off x="4370832" y="2468880"/>
            <a:ext cx="3236976" cy="2468880"/>
          </a:xfrm>
          <a:prstGeom prst="rect">
            <a:avLst/>
          </a:prstGeom>
          <a:noFill/>
        </p:spPr>
        <p:txBody>
          <a:bodyPr wrap="square">
            <a:spAutoFit/>
          </a:bodyPr>
          <a:lstStyle/>
          <a:p>
            <a:pPr algn="l"/>
            <a:r>
              <a:rPr sz="1050" b="0">
                <a:solidFill>
                  <a:srgbClr val="94A3B8"/>
                </a:solidFill>
                <a:latin typeface="Inter"/>
              </a:rPr>
              <a:t>Push endpoints check output status in Supabase before executing. Returns 403 if not approved, even if the frontend gate is somehow bypassed. Frontend and backend enforce the same rule independently.</a:t>
            </a:r>
          </a:p>
        </p:txBody>
      </p:sp>
      <p:sp>
        <p:nvSpPr>
          <p:cNvPr id="14" name="Rectangle 13"/>
          <p:cNvSpPr/>
          <p:nvPr/>
        </p:nvSpPr>
        <p:spPr>
          <a:xfrm>
            <a:off x="8046720" y="1691640"/>
            <a:ext cx="3566160" cy="347472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91640"/>
            <a:ext cx="356616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874520"/>
            <a:ext cx="3236976" cy="411480"/>
          </a:xfrm>
          <a:prstGeom prst="rect">
            <a:avLst/>
          </a:prstGeom>
          <a:noFill/>
        </p:spPr>
        <p:txBody>
          <a:bodyPr wrap="square">
            <a:spAutoFit/>
          </a:bodyPr>
          <a:lstStyle/>
          <a:p>
            <a:pPr algn="l"/>
            <a:r>
              <a:rPr sz="1300" b="1">
                <a:solidFill>
                  <a:srgbClr val="22C55E"/>
                </a:solidFill>
                <a:latin typeface="Inter"/>
              </a:rPr>
              <a:t>Output Status Lifecycle</a:t>
            </a:r>
          </a:p>
        </p:txBody>
      </p:sp>
      <p:sp>
        <p:nvSpPr>
          <p:cNvPr id="17" name="TextBox 16"/>
          <p:cNvSpPr txBox="1"/>
          <p:nvPr/>
        </p:nvSpPr>
        <p:spPr>
          <a:xfrm>
            <a:off x="8211312" y="2468880"/>
            <a:ext cx="3236976" cy="2468880"/>
          </a:xfrm>
          <a:prstGeom prst="rect">
            <a:avLst/>
          </a:prstGeom>
          <a:noFill/>
        </p:spPr>
        <p:txBody>
          <a:bodyPr wrap="square">
            <a:spAutoFit/>
          </a:bodyPr>
          <a:lstStyle/>
          <a:p>
            <a:pPr algn="l"/>
            <a:r>
              <a:rPr sz="1050" b="0">
                <a:solidFill>
                  <a:srgbClr val="94A3B8"/>
                </a:solidFill>
                <a:latin typeface="Inter"/>
              </a:rPr>
              <a:t>generating &gt; needs-review &gt; (revised &gt;) approved &gt; pushed. Each transition is user-triggered or explicitly confirmed. No automatic advancement.</a:t>
            </a:r>
          </a:p>
        </p:txBody>
      </p:sp>
      <p:sp>
        <p:nvSpPr>
          <p:cNvPr id="18" name="TextBox 17"/>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a:spAutoFit/>
          </a:bodyPr>
          <a:lstStyle/>
          <a:p>
            <a:pPr algn="l"/>
            <a:r>
              <a:rPr sz="900" b="0">
                <a:solidFill>
                  <a:srgbClr val="0EA5E9"/>
                </a:solidFill>
                <a:latin typeface="DM Mono"/>
              </a:rPr>
              <a:t>BUILD PLAN  /  MILESTONE-BASED, FIXED PRICE</a:t>
            </a:r>
          </a:p>
        </p:txBody>
      </p:sp>
      <p:sp>
        <p:nvSpPr>
          <p:cNvPr id="4" name="TextBox 3"/>
          <p:cNvSpPr txBox="1"/>
          <p:nvPr/>
        </p:nvSpPr>
        <p:spPr>
          <a:xfrm>
            <a:off x="457200" y="594360"/>
            <a:ext cx="10972800" cy="502920"/>
          </a:xfrm>
          <a:prstGeom prst="rect">
            <a:avLst/>
          </a:prstGeom>
          <a:noFill/>
        </p:spPr>
        <p:txBody>
          <a:bodyPr wrap="square">
            <a:spAutoFit/>
          </a:bodyPr>
          <a:lstStyle/>
          <a:p>
            <a:pPr algn="l"/>
            <a:r>
              <a:rPr sz="2800" b="1">
                <a:solidFill>
                  <a:srgbClr val="F1F5F9"/>
                </a:solidFill>
                <a:latin typeface="Inter"/>
              </a:rPr>
              <a:t>6 to 7 weeks. $9,000 fixed price.</a:t>
            </a:r>
          </a:p>
        </p:txBody>
      </p:sp>
      <p:sp>
        <p:nvSpPr>
          <p:cNvPr id="5" name="TextBox 4"/>
          <p:cNvSpPr txBox="1"/>
          <p:nvPr/>
        </p:nvSpPr>
        <p:spPr>
          <a:xfrm>
            <a:off x="457200" y="1097280"/>
            <a:ext cx="10515600" cy="320040"/>
          </a:xfrm>
          <a:prstGeom prst="rect">
            <a:avLst/>
          </a:prstGeom>
          <a:noFill/>
        </p:spPr>
        <p:txBody>
          <a:bodyPr wrap="square">
            <a:spAutoFit/>
          </a:bodyPr>
          <a:lstStyle/>
          <a:p>
            <a:pPr algn="l"/>
            <a:r>
              <a:rPr sz="1200" b="0">
                <a:solidFill>
                  <a:srgbClr val="94A3B8"/>
                </a:solidFill>
                <a:latin typeface="Inter"/>
              </a:rPr>
              <a:t>Each milestone is deployable. No billing until you have seen the working increment.</a:t>
            </a:r>
          </a:p>
        </p:txBody>
      </p:sp>
      <p:sp>
        <p:nvSpPr>
          <p:cNvPr id="6" name="Rectangle 5"/>
          <p:cNvSpPr/>
          <p:nvPr/>
        </p:nvSpPr>
        <p:spPr>
          <a:xfrm>
            <a:off x="365760" y="1600200"/>
            <a:ext cx="11430000" cy="786384"/>
          </a:xfrm>
          <a:prstGeom prst="rect">
            <a:avLst/>
          </a:prstGeom>
          <a:solidFill>
            <a:srgbClr val="141929"/>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783080"/>
            <a:ext cx="502920" cy="320040"/>
          </a:xfrm>
          <a:prstGeom prst="rect">
            <a:avLst/>
          </a:prstGeom>
          <a:noFill/>
        </p:spPr>
        <p:txBody>
          <a:bodyPr wrap="square">
            <a:spAutoFit/>
          </a:bodyPr>
          <a:lstStyle/>
          <a:p>
            <a:pPr algn="l"/>
            <a:r>
              <a:rPr sz="900" b="1">
                <a:solidFill>
                  <a:srgbClr val="0EA5E9"/>
                </a:solidFill>
                <a:latin typeface="DM Mono"/>
              </a:rPr>
              <a:t>M1</a:t>
            </a:r>
          </a:p>
        </p:txBody>
      </p:sp>
      <p:sp>
        <p:nvSpPr>
          <p:cNvPr id="8" name="TextBox 7"/>
          <p:cNvSpPr txBox="1"/>
          <p:nvPr/>
        </p:nvSpPr>
        <p:spPr>
          <a:xfrm>
            <a:off x="1097280" y="1691640"/>
            <a:ext cx="6858000" cy="320040"/>
          </a:xfrm>
          <a:prstGeom prst="rect">
            <a:avLst/>
          </a:prstGeom>
          <a:noFill/>
        </p:spPr>
        <p:txBody>
          <a:bodyPr wrap="square">
            <a:spAutoFit/>
          </a:bodyPr>
          <a:lstStyle/>
          <a:p>
            <a:pPr algn="l"/>
            <a:r>
              <a:rPr sz="1100" b="1">
                <a:solidFill>
                  <a:srgbClr val="F1F5F9"/>
                </a:solidFill>
                <a:latin typeface="Inter"/>
              </a:rPr>
              <a:t>UI Shell + Authority Engine end-to-end</a:t>
            </a:r>
          </a:p>
        </p:txBody>
      </p:sp>
      <p:sp>
        <p:nvSpPr>
          <p:cNvPr id="9" name="TextBox 8"/>
          <p:cNvSpPr txBox="1"/>
          <p:nvPr/>
        </p:nvSpPr>
        <p:spPr>
          <a:xfrm>
            <a:off x="1097280" y="2020824"/>
            <a:ext cx="6858000" cy="274320"/>
          </a:xfrm>
          <a:prstGeom prst="rect">
            <a:avLst/>
          </a:prstGeom>
          <a:noFill/>
        </p:spPr>
        <p:txBody>
          <a:bodyPr wrap="square">
            <a:spAutoFit/>
          </a:bodyPr>
          <a:lstStyle/>
          <a:p>
            <a:pPr algn="l"/>
            <a:r>
              <a:rPr sz="950" b="0">
                <a:solidFill>
                  <a:srgbClr val="94A3B8"/>
                </a:solidFill>
                <a:latin typeface="Inter"/>
              </a:rPr>
              <a:t>3-col console layout, GHL iframe, run/review/approve/push on Authority Engine, run records, LLM routing layer</a:t>
            </a:r>
          </a:p>
        </p:txBody>
      </p:sp>
      <p:sp>
        <p:nvSpPr>
          <p:cNvPr id="10" name="TextBox 9"/>
          <p:cNvSpPr txBox="1"/>
          <p:nvPr/>
        </p:nvSpPr>
        <p:spPr>
          <a:xfrm>
            <a:off x="8092440" y="1819656"/>
            <a:ext cx="1188720" cy="320040"/>
          </a:xfrm>
          <a:prstGeom prst="rect">
            <a:avLst/>
          </a:prstGeom>
          <a:noFill/>
        </p:spPr>
        <p:txBody>
          <a:bodyPr wrap="square">
            <a:spAutoFit/>
          </a:bodyPr>
          <a:lstStyle/>
          <a:p>
            <a:pPr algn="ctr"/>
            <a:r>
              <a:rPr sz="1000" b="0">
                <a:solidFill>
                  <a:srgbClr val="94A3B8"/>
                </a:solidFill>
                <a:latin typeface="DM Mono"/>
              </a:rPr>
              <a:t>1.5 wks</a:t>
            </a:r>
          </a:p>
        </p:txBody>
      </p:sp>
      <p:sp>
        <p:nvSpPr>
          <p:cNvPr id="11" name="TextBox 10"/>
          <p:cNvSpPr txBox="1"/>
          <p:nvPr/>
        </p:nvSpPr>
        <p:spPr>
          <a:xfrm>
            <a:off x="9418320" y="1819656"/>
            <a:ext cx="2011680" cy="320040"/>
          </a:xfrm>
          <a:prstGeom prst="rect">
            <a:avLst/>
          </a:prstGeom>
          <a:noFill/>
        </p:spPr>
        <p:txBody>
          <a:bodyPr wrap="square">
            <a:spAutoFit/>
          </a:bodyPr>
          <a:lstStyle/>
          <a:p>
            <a:pPr algn="r"/>
            <a:r>
              <a:rPr sz="1100" b="1">
                <a:solidFill>
                  <a:srgbClr val="22C55E"/>
                </a:solidFill>
                <a:latin typeface="DM Mono"/>
              </a:rPr>
              <a:t>$2,500</a:t>
            </a:r>
          </a:p>
        </p:txBody>
      </p:sp>
      <p:sp>
        <p:nvSpPr>
          <p:cNvPr id="12" name="Rectangle 11"/>
          <p:cNvSpPr/>
          <p:nvPr/>
        </p:nvSpPr>
        <p:spPr>
          <a:xfrm>
            <a:off x="365760" y="2386584"/>
            <a:ext cx="11430000" cy="786384"/>
          </a:xfrm>
          <a:prstGeom prst="rect">
            <a:avLst/>
          </a:prstGeom>
          <a:solidFill>
            <a:srgbClr val="1A2236"/>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569464"/>
            <a:ext cx="502920" cy="320040"/>
          </a:xfrm>
          <a:prstGeom prst="rect">
            <a:avLst/>
          </a:prstGeom>
          <a:noFill/>
        </p:spPr>
        <p:txBody>
          <a:bodyPr wrap="square">
            <a:spAutoFit/>
          </a:bodyPr>
          <a:lstStyle/>
          <a:p>
            <a:pPr algn="l"/>
            <a:r>
              <a:rPr sz="900" b="1">
                <a:solidFill>
                  <a:srgbClr val="0EA5E9"/>
                </a:solidFill>
                <a:latin typeface="DM Mono"/>
              </a:rPr>
              <a:t>M2</a:t>
            </a:r>
          </a:p>
        </p:txBody>
      </p:sp>
      <p:sp>
        <p:nvSpPr>
          <p:cNvPr id="14" name="TextBox 13"/>
          <p:cNvSpPr txBox="1"/>
          <p:nvPr/>
        </p:nvSpPr>
        <p:spPr>
          <a:xfrm>
            <a:off x="1097280" y="2478024"/>
            <a:ext cx="6858000" cy="320040"/>
          </a:xfrm>
          <a:prstGeom prst="rect">
            <a:avLst/>
          </a:prstGeom>
          <a:noFill/>
        </p:spPr>
        <p:txBody>
          <a:bodyPr wrap="square">
            <a:spAutoFit/>
          </a:bodyPr>
          <a:lstStyle/>
          <a:p>
            <a:pPr algn="l"/>
            <a:r>
              <a:rPr sz="1100" b="1">
                <a:solidFill>
                  <a:srgbClr val="F1F5F9"/>
                </a:solidFill>
                <a:latin typeface="Inter"/>
              </a:rPr>
              <a:t>Newsletter Engine end-to-end</a:t>
            </a:r>
          </a:p>
        </p:txBody>
      </p:sp>
      <p:sp>
        <p:nvSpPr>
          <p:cNvPr id="15" name="TextBox 14"/>
          <p:cNvSpPr txBox="1"/>
          <p:nvPr/>
        </p:nvSpPr>
        <p:spPr>
          <a:xfrm>
            <a:off x="1097280" y="2807208"/>
            <a:ext cx="6858000" cy="274320"/>
          </a:xfrm>
          <a:prstGeom prst="rect">
            <a:avLst/>
          </a:prstGeom>
          <a:noFill/>
        </p:spPr>
        <p:txBody>
          <a:bodyPr wrap="square">
            <a:spAutoFit/>
          </a:bodyPr>
          <a:lstStyle/>
          <a:p>
            <a:pPr algn="l"/>
            <a:r>
              <a:rPr sz="950" b="0">
                <a:solidFill>
                  <a:srgbClr val="94A3B8"/>
                </a:solidFill>
                <a:latin typeface="Inter"/>
              </a:rPr>
              <a:t>Full body + 3 subject lines + preview text, selectable subjects, revision panel, approval-gated save/schedule</a:t>
            </a:r>
          </a:p>
        </p:txBody>
      </p:sp>
      <p:sp>
        <p:nvSpPr>
          <p:cNvPr id="16" name="TextBox 15"/>
          <p:cNvSpPr txBox="1"/>
          <p:nvPr/>
        </p:nvSpPr>
        <p:spPr>
          <a:xfrm>
            <a:off x="8092440" y="2606040"/>
            <a:ext cx="1188720" cy="320040"/>
          </a:xfrm>
          <a:prstGeom prst="rect">
            <a:avLst/>
          </a:prstGeom>
          <a:noFill/>
        </p:spPr>
        <p:txBody>
          <a:bodyPr wrap="square">
            <a:spAutoFit/>
          </a:bodyPr>
          <a:lstStyle/>
          <a:p>
            <a:pPr algn="ctr"/>
            <a:r>
              <a:rPr sz="1000" b="0">
                <a:solidFill>
                  <a:srgbClr val="94A3B8"/>
                </a:solidFill>
                <a:latin typeface="DM Mono"/>
              </a:rPr>
              <a:t>1 wk</a:t>
            </a:r>
          </a:p>
        </p:txBody>
      </p:sp>
      <p:sp>
        <p:nvSpPr>
          <p:cNvPr id="17" name="TextBox 16"/>
          <p:cNvSpPr txBox="1"/>
          <p:nvPr/>
        </p:nvSpPr>
        <p:spPr>
          <a:xfrm>
            <a:off x="9418320" y="2606040"/>
            <a:ext cx="2011680" cy="320040"/>
          </a:xfrm>
          <a:prstGeom prst="rect">
            <a:avLst/>
          </a:prstGeom>
          <a:noFill/>
        </p:spPr>
        <p:txBody>
          <a:bodyPr wrap="square">
            <a:spAutoFit/>
          </a:bodyPr>
          <a:lstStyle/>
          <a:p>
            <a:pPr algn="r"/>
            <a:r>
              <a:rPr sz="1100" b="1">
                <a:solidFill>
                  <a:srgbClr val="22C55E"/>
                </a:solidFill>
                <a:latin typeface="DM Mono"/>
              </a:rPr>
              <a:t>$1,500</a:t>
            </a:r>
          </a:p>
        </p:txBody>
      </p:sp>
      <p:sp>
        <p:nvSpPr>
          <p:cNvPr id="18" name="Rectangle 17"/>
          <p:cNvSpPr/>
          <p:nvPr/>
        </p:nvSpPr>
        <p:spPr>
          <a:xfrm>
            <a:off x="365760" y="3172968"/>
            <a:ext cx="11430000" cy="786384"/>
          </a:xfrm>
          <a:prstGeom prst="rect">
            <a:avLst/>
          </a:prstGeom>
          <a:solidFill>
            <a:srgbClr val="141929"/>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355848"/>
            <a:ext cx="502920" cy="320040"/>
          </a:xfrm>
          <a:prstGeom prst="rect">
            <a:avLst/>
          </a:prstGeom>
          <a:noFill/>
        </p:spPr>
        <p:txBody>
          <a:bodyPr wrap="square">
            <a:spAutoFit/>
          </a:bodyPr>
          <a:lstStyle/>
          <a:p>
            <a:pPr algn="l"/>
            <a:r>
              <a:rPr sz="900" b="1">
                <a:solidFill>
                  <a:srgbClr val="0EA5E9"/>
                </a:solidFill>
                <a:latin typeface="DM Mono"/>
              </a:rPr>
              <a:t>M3</a:t>
            </a:r>
          </a:p>
        </p:txBody>
      </p:sp>
      <p:sp>
        <p:nvSpPr>
          <p:cNvPr id="20" name="TextBox 19"/>
          <p:cNvSpPr txBox="1"/>
          <p:nvPr/>
        </p:nvSpPr>
        <p:spPr>
          <a:xfrm>
            <a:off x="1097280" y="3264408"/>
            <a:ext cx="6858000" cy="320040"/>
          </a:xfrm>
          <a:prstGeom prst="rect">
            <a:avLst/>
          </a:prstGeom>
          <a:noFill/>
        </p:spPr>
        <p:txBody>
          <a:bodyPr wrap="square">
            <a:spAutoFit/>
          </a:bodyPr>
          <a:lstStyle/>
          <a:p>
            <a:pPr algn="l"/>
            <a:r>
              <a:rPr sz="1100" b="1">
                <a:solidFill>
                  <a:srgbClr val="F1F5F9"/>
                </a:solidFill>
                <a:latin typeface="Inter"/>
              </a:rPr>
              <a:t>Knowledge Engine Lite + Drive/GitHub save</a:t>
            </a:r>
          </a:p>
        </p:txBody>
      </p:sp>
      <p:sp>
        <p:nvSpPr>
          <p:cNvPr id="21" name="TextBox 20"/>
          <p:cNvSpPr txBox="1"/>
          <p:nvPr/>
        </p:nvSpPr>
        <p:spPr>
          <a:xfrm>
            <a:off x="1097280" y="3593592"/>
            <a:ext cx="6858000" cy="274320"/>
          </a:xfrm>
          <a:prstGeom prst="rect">
            <a:avLst/>
          </a:prstGeom>
          <a:noFill/>
        </p:spPr>
        <p:txBody>
          <a:bodyPr wrap="square">
            <a:spAutoFit/>
          </a:bodyPr>
          <a:lstStyle/>
          <a:p>
            <a:pPr algn="l"/>
            <a:r>
              <a:rPr sz="950" b="0">
                <a:solidFill>
                  <a:srgbClr val="94A3B8"/>
                </a:solidFill>
                <a:latin typeface="Inter"/>
              </a:rPr>
              <a:t>KB generation, destination picker, server-side OAuth for Drive + GitHub, save receipt with file path</a:t>
            </a:r>
          </a:p>
        </p:txBody>
      </p:sp>
      <p:sp>
        <p:nvSpPr>
          <p:cNvPr id="22" name="TextBox 21"/>
          <p:cNvSpPr txBox="1"/>
          <p:nvPr/>
        </p:nvSpPr>
        <p:spPr>
          <a:xfrm>
            <a:off x="8092440" y="3392424"/>
            <a:ext cx="1188720" cy="320040"/>
          </a:xfrm>
          <a:prstGeom prst="rect">
            <a:avLst/>
          </a:prstGeom>
          <a:noFill/>
        </p:spPr>
        <p:txBody>
          <a:bodyPr wrap="square">
            <a:spAutoFit/>
          </a:bodyPr>
          <a:lstStyle/>
          <a:p>
            <a:pPr algn="ctr"/>
            <a:r>
              <a:rPr sz="1000" b="0">
                <a:solidFill>
                  <a:srgbClr val="94A3B8"/>
                </a:solidFill>
                <a:latin typeface="DM Mono"/>
              </a:rPr>
              <a:t>1.5 wks</a:t>
            </a:r>
          </a:p>
        </p:txBody>
      </p:sp>
      <p:sp>
        <p:nvSpPr>
          <p:cNvPr id="23" name="TextBox 22"/>
          <p:cNvSpPr txBox="1"/>
          <p:nvPr/>
        </p:nvSpPr>
        <p:spPr>
          <a:xfrm>
            <a:off x="9418320" y="3392424"/>
            <a:ext cx="2011680" cy="320040"/>
          </a:xfrm>
          <a:prstGeom prst="rect">
            <a:avLst/>
          </a:prstGeom>
          <a:noFill/>
        </p:spPr>
        <p:txBody>
          <a:bodyPr wrap="square">
            <a:spAutoFit/>
          </a:bodyPr>
          <a:lstStyle/>
          <a:p>
            <a:pPr algn="r"/>
            <a:r>
              <a:rPr sz="1100" b="1">
                <a:solidFill>
                  <a:srgbClr val="22C55E"/>
                </a:solidFill>
                <a:latin typeface="DM Mono"/>
              </a:rPr>
              <a:t>$2,000</a:t>
            </a:r>
          </a:p>
        </p:txBody>
      </p:sp>
      <p:sp>
        <p:nvSpPr>
          <p:cNvPr id="24" name="Rectangle 23"/>
          <p:cNvSpPr/>
          <p:nvPr/>
        </p:nvSpPr>
        <p:spPr>
          <a:xfrm>
            <a:off x="365760" y="3959352"/>
            <a:ext cx="11430000" cy="786384"/>
          </a:xfrm>
          <a:prstGeom prst="rect">
            <a:avLst/>
          </a:prstGeom>
          <a:solidFill>
            <a:srgbClr val="1A2236"/>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142232"/>
            <a:ext cx="502920" cy="320040"/>
          </a:xfrm>
          <a:prstGeom prst="rect">
            <a:avLst/>
          </a:prstGeom>
          <a:noFill/>
        </p:spPr>
        <p:txBody>
          <a:bodyPr wrap="square">
            <a:spAutoFit/>
          </a:bodyPr>
          <a:lstStyle/>
          <a:p>
            <a:pPr algn="l"/>
            <a:r>
              <a:rPr sz="900" b="1">
                <a:solidFill>
                  <a:srgbClr val="0EA5E9"/>
                </a:solidFill>
                <a:latin typeface="DM Mono"/>
              </a:rPr>
              <a:t>M4</a:t>
            </a:r>
          </a:p>
        </p:txBody>
      </p:sp>
      <p:sp>
        <p:nvSpPr>
          <p:cNvPr id="26" name="TextBox 25"/>
          <p:cNvSpPr txBox="1"/>
          <p:nvPr/>
        </p:nvSpPr>
        <p:spPr>
          <a:xfrm>
            <a:off x="1097280" y="4050792"/>
            <a:ext cx="6858000" cy="320040"/>
          </a:xfrm>
          <a:prstGeom prst="rect">
            <a:avLst/>
          </a:prstGeom>
          <a:noFill/>
        </p:spPr>
        <p:txBody>
          <a:bodyPr wrap="square">
            <a:spAutoFit/>
          </a:bodyPr>
          <a:lstStyle/>
          <a:p>
            <a:pPr algn="l"/>
            <a:r>
              <a:rPr sz="1100" b="1">
                <a:solidFill>
                  <a:srgbClr val="F1F5F9"/>
                </a:solidFill>
                <a:latin typeface="Inter"/>
              </a:rPr>
              <a:t>Outputs queue + approve/revise/re-run flow</a:t>
            </a:r>
          </a:p>
        </p:txBody>
      </p:sp>
      <p:sp>
        <p:nvSpPr>
          <p:cNvPr id="27" name="TextBox 26"/>
          <p:cNvSpPr txBox="1"/>
          <p:nvPr/>
        </p:nvSpPr>
        <p:spPr>
          <a:xfrm>
            <a:off x="1097280" y="4379976"/>
            <a:ext cx="6858000" cy="274320"/>
          </a:xfrm>
          <a:prstGeom prst="rect">
            <a:avLst/>
          </a:prstGeom>
          <a:noFill/>
        </p:spPr>
        <p:txBody>
          <a:bodyPr wrap="square">
            <a:spAutoFit/>
          </a:bodyPr>
          <a:lstStyle/>
          <a:p>
            <a:pPr algn="l"/>
            <a:r>
              <a:rPr sz="950" b="0">
                <a:solidFill>
                  <a:srgbClr val="94A3B8"/>
                </a:solidFill>
                <a:latin typeface="Inter"/>
              </a:rPr>
              <a:t>Pending Review queue, click-to-review, approve/request-edits/re-run actions, run history panel</a:t>
            </a:r>
          </a:p>
        </p:txBody>
      </p:sp>
      <p:sp>
        <p:nvSpPr>
          <p:cNvPr id="28" name="TextBox 27"/>
          <p:cNvSpPr txBox="1"/>
          <p:nvPr/>
        </p:nvSpPr>
        <p:spPr>
          <a:xfrm>
            <a:off x="8092440" y="4178808"/>
            <a:ext cx="1188720" cy="320040"/>
          </a:xfrm>
          <a:prstGeom prst="rect">
            <a:avLst/>
          </a:prstGeom>
          <a:noFill/>
        </p:spPr>
        <p:txBody>
          <a:bodyPr wrap="square">
            <a:spAutoFit/>
          </a:bodyPr>
          <a:lstStyle/>
          <a:p>
            <a:pPr algn="ctr"/>
            <a:r>
              <a:rPr sz="1000" b="0">
                <a:solidFill>
                  <a:srgbClr val="94A3B8"/>
                </a:solidFill>
                <a:latin typeface="DM Mono"/>
              </a:rPr>
              <a:t>1 wk</a:t>
            </a:r>
          </a:p>
        </p:txBody>
      </p:sp>
      <p:sp>
        <p:nvSpPr>
          <p:cNvPr id="29" name="TextBox 28"/>
          <p:cNvSpPr txBox="1"/>
          <p:nvPr/>
        </p:nvSpPr>
        <p:spPr>
          <a:xfrm>
            <a:off x="9418320" y="4178808"/>
            <a:ext cx="2011680" cy="320040"/>
          </a:xfrm>
          <a:prstGeom prst="rect">
            <a:avLst/>
          </a:prstGeom>
          <a:noFill/>
        </p:spPr>
        <p:txBody>
          <a:bodyPr wrap="square">
            <a:spAutoFit/>
          </a:bodyPr>
          <a:lstStyle/>
          <a:p>
            <a:pPr algn="r"/>
            <a:r>
              <a:rPr sz="1100" b="1">
                <a:solidFill>
                  <a:srgbClr val="22C55E"/>
                </a:solidFill>
                <a:latin typeface="DM Mono"/>
              </a:rPr>
              <a:t>$1,500</a:t>
            </a:r>
          </a:p>
        </p:txBody>
      </p:sp>
      <p:sp>
        <p:nvSpPr>
          <p:cNvPr id="30" name="Rectangle 29"/>
          <p:cNvSpPr/>
          <p:nvPr/>
        </p:nvSpPr>
        <p:spPr>
          <a:xfrm>
            <a:off x="365760" y="4745736"/>
            <a:ext cx="11430000" cy="786384"/>
          </a:xfrm>
          <a:prstGeom prst="rect">
            <a:avLst/>
          </a:prstGeom>
          <a:solidFill>
            <a:srgbClr val="141929"/>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4928616"/>
            <a:ext cx="502920" cy="320040"/>
          </a:xfrm>
          <a:prstGeom prst="rect">
            <a:avLst/>
          </a:prstGeom>
          <a:noFill/>
        </p:spPr>
        <p:txBody>
          <a:bodyPr wrap="square">
            <a:spAutoFit/>
          </a:bodyPr>
          <a:lstStyle/>
          <a:p>
            <a:pPr algn="l"/>
            <a:r>
              <a:rPr sz="900" b="1">
                <a:solidFill>
                  <a:srgbClr val="0EA5E9"/>
                </a:solidFill>
                <a:latin typeface="DM Mono"/>
              </a:rPr>
              <a:t>M5</a:t>
            </a:r>
          </a:p>
        </p:txBody>
      </p:sp>
      <p:sp>
        <p:nvSpPr>
          <p:cNvPr id="32" name="TextBox 31"/>
          <p:cNvSpPr txBox="1"/>
          <p:nvPr/>
        </p:nvSpPr>
        <p:spPr>
          <a:xfrm>
            <a:off x="1097280" y="4837176"/>
            <a:ext cx="6858000" cy="320040"/>
          </a:xfrm>
          <a:prstGeom prst="rect">
            <a:avLst/>
          </a:prstGeom>
          <a:noFill/>
        </p:spPr>
        <p:txBody>
          <a:bodyPr wrap="square">
            <a:spAutoFit/>
          </a:bodyPr>
          <a:lstStyle/>
          <a:p>
            <a:pPr algn="l"/>
            <a:r>
              <a:rPr sz="1100" b="1">
                <a:solidFill>
                  <a:srgbClr val="F1F5F9"/>
                </a:solidFill>
                <a:latin typeface="Inter"/>
              </a:rPr>
              <a:t>Intel Brief stub + polish + GHL QA + deploy</a:t>
            </a:r>
          </a:p>
        </p:txBody>
      </p:sp>
      <p:sp>
        <p:nvSpPr>
          <p:cNvPr id="33" name="TextBox 32"/>
          <p:cNvSpPr txBox="1"/>
          <p:nvPr/>
        </p:nvSpPr>
        <p:spPr>
          <a:xfrm>
            <a:off x="1097280" y="5166360"/>
            <a:ext cx="6858000" cy="274320"/>
          </a:xfrm>
          <a:prstGeom prst="rect">
            <a:avLst/>
          </a:prstGeom>
          <a:noFill/>
        </p:spPr>
        <p:txBody>
          <a:bodyPr wrap="square">
            <a:spAutoFit/>
          </a:bodyPr>
          <a:lstStyle/>
          <a:p>
            <a:pPr algn="l"/>
            <a:r>
              <a:rPr sz="950" b="0">
                <a:solidFill>
                  <a:srgbClr val="94A3B8"/>
                </a:solidFill>
                <a:latin typeface="Inter"/>
              </a:rPr>
              <a:t>6-section Intel Brief, workspace context, GHL postMessage integration, final QA, production deploy</a:t>
            </a:r>
          </a:p>
        </p:txBody>
      </p:sp>
      <p:sp>
        <p:nvSpPr>
          <p:cNvPr id="34" name="TextBox 33"/>
          <p:cNvSpPr txBox="1"/>
          <p:nvPr/>
        </p:nvSpPr>
        <p:spPr>
          <a:xfrm>
            <a:off x="8092440" y="4965192"/>
            <a:ext cx="1188720" cy="320040"/>
          </a:xfrm>
          <a:prstGeom prst="rect">
            <a:avLst/>
          </a:prstGeom>
          <a:noFill/>
        </p:spPr>
        <p:txBody>
          <a:bodyPr wrap="square">
            <a:spAutoFit/>
          </a:bodyPr>
          <a:lstStyle/>
          <a:p>
            <a:pPr algn="ctr"/>
            <a:r>
              <a:rPr sz="1000" b="0">
                <a:solidFill>
                  <a:srgbClr val="94A3B8"/>
                </a:solidFill>
                <a:latin typeface="DM Mono"/>
              </a:rPr>
              <a:t>1 wk</a:t>
            </a:r>
          </a:p>
        </p:txBody>
      </p:sp>
      <p:sp>
        <p:nvSpPr>
          <p:cNvPr id="35" name="TextBox 34"/>
          <p:cNvSpPr txBox="1"/>
          <p:nvPr/>
        </p:nvSpPr>
        <p:spPr>
          <a:xfrm>
            <a:off x="9418320" y="4965192"/>
            <a:ext cx="2011680" cy="320040"/>
          </a:xfrm>
          <a:prstGeom prst="rect">
            <a:avLst/>
          </a:prstGeom>
          <a:noFill/>
        </p:spPr>
        <p:txBody>
          <a:bodyPr wrap="square">
            <a:spAutoFit/>
          </a:bodyPr>
          <a:lstStyle/>
          <a:p>
            <a:pPr algn="r"/>
            <a:r>
              <a:rPr sz="1100" b="1">
                <a:solidFill>
                  <a:srgbClr val="22C55E"/>
                </a:solidFill>
                <a:latin typeface="DM Mono"/>
              </a:rPr>
              <a:t>$1,500</a:t>
            </a:r>
          </a:p>
        </p:txBody>
      </p:sp>
      <p:sp>
        <p:nvSpPr>
          <p:cNvPr id="36" name="Rectangle 35"/>
          <p:cNvSpPr/>
          <p:nvPr/>
        </p:nvSpPr>
        <p:spPr>
          <a:xfrm>
            <a:off x="365760" y="5586984"/>
            <a:ext cx="11430000" cy="384048"/>
          </a:xfrm>
          <a:prstGeom prst="rect">
            <a:avLst/>
          </a:prstGeom>
          <a:solidFill>
            <a:srgbClr val="0B0F1A"/>
          </a:solidFill>
          <a:ln w="6350">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641848"/>
            <a:ext cx="3657600" cy="274320"/>
          </a:xfrm>
          <a:prstGeom prst="rect">
            <a:avLst/>
          </a:prstGeom>
          <a:noFill/>
        </p:spPr>
        <p:txBody>
          <a:bodyPr wrap="square">
            <a:spAutoFit/>
          </a:bodyPr>
          <a:lstStyle/>
          <a:p>
            <a:pPr algn="l"/>
            <a:r>
              <a:rPr sz="900" b="1">
                <a:solidFill>
                  <a:srgbClr val="475569"/>
                </a:solidFill>
                <a:latin typeface="DM Mono"/>
              </a:rPr>
              <a:t>TOTAL</a:t>
            </a:r>
          </a:p>
        </p:txBody>
      </p:sp>
      <p:sp>
        <p:nvSpPr>
          <p:cNvPr id="38" name="TextBox 37"/>
          <p:cNvSpPr txBox="1"/>
          <p:nvPr/>
        </p:nvSpPr>
        <p:spPr>
          <a:xfrm>
            <a:off x="8092440" y="5641848"/>
            <a:ext cx="1188720" cy="274320"/>
          </a:xfrm>
          <a:prstGeom prst="rect">
            <a:avLst/>
          </a:prstGeom>
          <a:noFill/>
        </p:spPr>
        <p:txBody>
          <a:bodyPr wrap="square">
            <a:spAutoFit/>
          </a:bodyPr>
          <a:lstStyle/>
          <a:p>
            <a:pPr algn="ctr"/>
            <a:r>
              <a:rPr sz="950" b="1">
                <a:solidFill>
                  <a:srgbClr val="F1F5F9"/>
                </a:solidFill>
                <a:latin typeface="DM Mono"/>
              </a:rPr>
              <a:t>6-7 weeks</a:t>
            </a:r>
          </a:p>
        </p:txBody>
      </p:sp>
      <p:sp>
        <p:nvSpPr>
          <p:cNvPr id="39" name="TextBox 38"/>
          <p:cNvSpPr txBox="1"/>
          <p:nvPr/>
        </p:nvSpPr>
        <p:spPr>
          <a:xfrm>
            <a:off x="9418320" y="5623560"/>
            <a:ext cx="2011680" cy="320040"/>
          </a:xfrm>
          <a:prstGeom prst="rect">
            <a:avLst/>
          </a:prstGeom>
          <a:noFill/>
        </p:spPr>
        <p:txBody>
          <a:bodyPr wrap="square">
            <a:spAutoFit/>
          </a:bodyPr>
          <a:lstStyle/>
          <a:p>
            <a:pPr algn="r"/>
            <a:r>
              <a:rPr sz="1300" b="1">
                <a:solidFill>
                  <a:srgbClr val="22C55E"/>
                </a:solidFill>
                <a:latin typeface="DM Mono"/>
              </a:rPr>
              <a:t>$9,000</a:t>
            </a:r>
          </a:p>
        </p:txBody>
      </p:sp>
      <p:sp>
        <p:nvSpPr>
          <p:cNvPr id="40" name="TextBox 39"/>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a:spAutoFit/>
          </a:bodyPr>
          <a:lstStyle/>
          <a:p>
            <a:pPr algn="l"/>
            <a:r>
              <a:rPr sz="900" b="0">
                <a:solidFill>
                  <a:srgbClr val="0EA5E9"/>
                </a:solidFill>
                <a:latin typeface="DM Mono"/>
              </a:rPr>
              <a:t>WHY MICHAEL WEGTER  /  PROOF POINTS</a:t>
            </a:r>
          </a:p>
        </p:txBody>
      </p:sp>
      <p:sp>
        <p:nvSpPr>
          <p:cNvPr id="4" name="TextBox 3"/>
          <p:cNvSpPr txBox="1"/>
          <p:nvPr/>
        </p:nvSpPr>
        <p:spPr>
          <a:xfrm>
            <a:off x="457200" y="594360"/>
            <a:ext cx="10972800" cy="502920"/>
          </a:xfrm>
          <a:prstGeom prst="rect">
            <a:avLst/>
          </a:prstGeom>
          <a:noFill/>
        </p:spPr>
        <p:txBody>
          <a:bodyPr wrap="square">
            <a:spAutoFit/>
          </a:bodyPr>
          <a:lstStyle/>
          <a:p>
            <a:pPr algn="l"/>
            <a:r>
              <a:rPr sz="2800" b="1">
                <a:solidFill>
                  <a:srgbClr val="F1F5F9"/>
                </a:solidFill>
                <a:latin typeface="Inter"/>
              </a:rPr>
              <a:t>Full-stack ownership. LLMs in production. No overengineering.</a:t>
            </a:r>
          </a:p>
        </p:txBody>
      </p:sp>
      <p:sp>
        <p:nvSpPr>
          <p:cNvPr id="5" name="Rectangle 4"/>
          <p:cNvSpPr/>
          <p:nvPr/>
        </p:nvSpPr>
        <p:spPr>
          <a:xfrm>
            <a:off x="365760" y="1417320"/>
            <a:ext cx="5394960" cy="228600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581912"/>
            <a:ext cx="5065776" cy="365760"/>
          </a:xfrm>
          <a:prstGeom prst="rect">
            <a:avLst/>
          </a:prstGeom>
          <a:noFill/>
        </p:spPr>
        <p:txBody>
          <a:bodyPr wrap="square">
            <a:spAutoFit/>
          </a:bodyPr>
          <a:lstStyle/>
          <a:p>
            <a:pPr algn="l"/>
            <a:r>
              <a:rPr sz="1200" b="1">
                <a:solidFill>
                  <a:srgbClr val="0EA5E9"/>
                </a:solidFill>
                <a:latin typeface="Inter"/>
              </a:rPr>
              <a:t>Sole developer, 600 users/month</a:t>
            </a:r>
          </a:p>
        </p:txBody>
      </p:sp>
      <p:sp>
        <p:nvSpPr>
          <p:cNvPr id="7" name="TextBox 6"/>
          <p:cNvSpPr txBox="1"/>
          <p:nvPr/>
        </p:nvSpPr>
        <p:spPr>
          <a:xfrm>
            <a:off x="530352" y="2057400"/>
            <a:ext cx="5065776" cy="1463040"/>
          </a:xfrm>
          <a:prstGeom prst="rect">
            <a:avLst/>
          </a:prstGeom>
          <a:noFill/>
        </p:spPr>
        <p:txBody>
          <a:bodyPr wrap="square">
            <a:spAutoFit/>
          </a:bodyPr>
          <a:lstStyle/>
          <a:p>
            <a:pPr algn="l"/>
            <a:r>
              <a:rPr sz="1050" b="0">
                <a:solidFill>
                  <a:srgbClr val="94A3B8"/>
                </a:solidFill>
                <a:latin typeface="Inter"/>
              </a:rPr>
              <a:t>U.S. Bank (via Turnberry): sole dev and SME on TDAAS, ~60k LOC, React + Python + SQL + Java. Became go-to within months. Led the 6-month Azure Cloud migration as the project's main rep.</a:t>
            </a:r>
          </a:p>
        </p:txBody>
      </p:sp>
      <p:sp>
        <p:nvSpPr>
          <p:cNvPr id="8" name="Rectangle 7"/>
          <p:cNvSpPr/>
          <p:nvPr/>
        </p:nvSpPr>
        <p:spPr>
          <a:xfrm>
            <a:off x="5989320" y="1417320"/>
            <a:ext cx="5394960" cy="228600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3912" y="1581912"/>
            <a:ext cx="5065776" cy="365760"/>
          </a:xfrm>
          <a:prstGeom prst="rect">
            <a:avLst/>
          </a:prstGeom>
          <a:noFill/>
        </p:spPr>
        <p:txBody>
          <a:bodyPr wrap="square">
            <a:spAutoFit/>
          </a:bodyPr>
          <a:lstStyle/>
          <a:p>
            <a:pPr algn="l"/>
            <a:r>
              <a:rPr sz="1200" b="1">
                <a:solidFill>
                  <a:srgbClr val="0EA5E9"/>
                </a:solidFill>
                <a:latin typeface="Inter"/>
              </a:rPr>
              <a:t>LLM workflows in production</a:t>
            </a:r>
          </a:p>
        </p:txBody>
      </p:sp>
      <p:sp>
        <p:nvSpPr>
          <p:cNvPr id="10" name="TextBox 9"/>
          <p:cNvSpPr txBox="1"/>
          <p:nvPr/>
        </p:nvSpPr>
        <p:spPr>
          <a:xfrm>
            <a:off x="6153912" y="2057400"/>
            <a:ext cx="5065776" cy="1463040"/>
          </a:xfrm>
          <a:prstGeom prst="rect">
            <a:avLst/>
          </a:prstGeom>
          <a:noFill/>
        </p:spPr>
        <p:txBody>
          <a:bodyPr wrap="square">
            <a:spAutoFit/>
          </a:bodyPr>
          <a:lstStyle/>
          <a:p>
            <a:pPr algn="l"/>
            <a:r>
              <a:rPr sz="1050" b="0">
                <a:solidFill>
                  <a:srgbClr val="94A3B8"/>
                </a:solidFill>
                <a:latin typeface="Inter"/>
              </a:rPr>
              <a:t>At Optum (current, April 2026): team's go-to for AI-assisted development using Azure OpenAI. The demo implements prompt chaining, JSON-schema output enforcement, sliding context windows, and 1-retry reflection.</a:t>
            </a:r>
          </a:p>
        </p:txBody>
      </p:sp>
      <p:sp>
        <p:nvSpPr>
          <p:cNvPr id="11" name="Rectangle 10"/>
          <p:cNvSpPr/>
          <p:nvPr/>
        </p:nvSpPr>
        <p:spPr>
          <a:xfrm>
            <a:off x="365760" y="3931920"/>
            <a:ext cx="5394960" cy="228600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096512"/>
            <a:ext cx="5065776" cy="365760"/>
          </a:xfrm>
          <a:prstGeom prst="rect">
            <a:avLst/>
          </a:prstGeom>
          <a:noFill/>
        </p:spPr>
        <p:txBody>
          <a:bodyPr wrap="square">
            <a:spAutoFit/>
          </a:bodyPr>
          <a:lstStyle/>
          <a:p>
            <a:pPr algn="l"/>
            <a:r>
              <a:rPr sz="1200" b="1">
                <a:solidFill>
                  <a:srgbClr val="0EA5E9"/>
                </a:solidFill>
                <a:latin typeface="Inter"/>
              </a:rPr>
              <a:t>The demo is the application</a:t>
            </a:r>
          </a:p>
        </p:txBody>
      </p:sp>
      <p:sp>
        <p:nvSpPr>
          <p:cNvPr id="13" name="TextBox 12"/>
          <p:cNvSpPr txBox="1"/>
          <p:nvPr/>
        </p:nvSpPr>
        <p:spPr>
          <a:xfrm>
            <a:off x="530352" y="4572000"/>
            <a:ext cx="5065776" cy="1463040"/>
          </a:xfrm>
          <a:prstGeom prst="rect">
            <a:avLst/>
          </a:prstGeom>
          <a:noFill/>
        </p:spPr>
        <p:txBody>
          <a:bodyPr wrap="square">
            <a:spAutoFit/>
          </a:bodyPr>
          <a:lstStyle/>
          <a:p>
            <a:pPr algn="l"/>
            <a:r>
              <a:rPr sz="1050" b="0">
                <a:solidFill>
                  <a:srgbClr val="94A3B8"/>
                </a:solidFill>
                <a:latin typeface="Inter"/>
              </a:rPr>
              <a:t>I built a working Intelligence Center before applying. All three engines, approval gating, run records, cost logging, and the LLM routing layer are functional at the demo link. Working software, not slides about potential.</a:t>
            </a:r>
          </a:p>
        </p:txBody>
      </p:sp>
      <p:sp>
        <p:nvSpPr>
          <p:cNvPr id="14" name="Rectangle 13"/>
          <p:cNvSpPr/>
          <p:nvPr/>
        </p:nvSpPr>
        <p:spPr>
          <a:xfrm>
            <a:off x="5989320" y="3931920"/>
            <a:ext cx="5394960" cy="228600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4096512"/>
            <a:ext cx="5065776" cy="365760"/>
          </a:xfrm>
          <a:prstGeom prst="rect">
            <a:avLst/>
          </a:prstGeom>
          <a:noFill/>
        </p:spPr>
        <p:txBody>
          <a:bodyPr wrap="square">
            <a:spAutoFit/>
          </a:bodyPr>
          <a:lstStyle/>
          <a:p>
            <a:pPr algn="l"/>
            <a:r>
              <a:rPr sz="1200" b="1">
                <a:solidFill>
                  <a:srgbClr val="0EA5E9"/>
                </a:solidFill>
                <a:latin typeface="Inter"/>
              </a:rPr>
              <a:t>No overengineering on principle</a:t>
            </a:r>
          </a:p>
        </p:txBody>
      </p:sp>
      <p:sp>
        <p:nvSpPr>
          <p:cNvPr id="16" name="TextBox 15"/>
          <p:cNvSpPr txBox="1"/>
          <p:nvPr/>
        </p:nvSpPr>
        <p:spPr>
          <a:xfrm>
            <a:off x="6153912" y="4572000"/>
            <a:ext cx="5065776" cy="1463040"/>
          </a:xfrm>
          <a:prstGeom prst="rect">
            <a:avLst/>
          </a:prstGeom>
          <a:noFill/>
        </p:spPr>
        <p:txBody>
          <a:bodyPr wrap="square">
            <a:spAutoFit/>
          </a:bodyPr>
          <a:lstStyle/>
          <a:p>
            <a:pPr algn="l"/>
            <a:r>
              <a:rPr sz="1050" b="0">
                <a:solidFill>
                  <a:srgbClr val="94A3B8"/>
                </a:solidFill>
                <a:latin typeface="Inter"/>
              </a:rPr>
              <a:t>The demo is 12 files. The production design is one routing service + 4 Supabase tables. V1 should validate the core workflow quickly. I read the posting: skip advanced analytics, skip future engines, ship the loop.</a:t>
            </a:r>
          </a:p>
        </p:txBody>
      </p:sp>
      <p:sp>
        <p:nvSpPr>
          <p:cNvPr id="17" name="TextBox 16"/>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097280"/>
            <a:ext cx="9418320" cy="4663440"/>
          </a:xfrm>
          <a:prstGeom prst="rect">
            <a:avLst/>
          </a:prstGeom>
          <a:solidFill>
            <a:srgbClr val="141929"/>
          </a:solidFill>
          <a:ln w="9525">
            <a:solidFill>
              <a:srgbClr val="1E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508760"/>
            <a:ext cx="8503920" cy="640080"/>
          </a:xfrm>
          <a:prstGeom prst="rect">
            <a:avLst/>
          </a:prstGeom>
          <a:noFill/>
        </p:spPr>
        <p:txBody>
          <a:bodyPr wrap="square">
            <a:spAutoFit/>
          </a:bodyPr>
          <a:lstStyle/>
          <a:p>
            <a:pPr algn="ctr"/>
            <a:r>
              <a:rPr sz="3600" b="1">
                <a:solidFill>
                  <a:srgbClr val="F1F5F9"/>
                </a:solidFill>
                <a:latin typeface="Inter"/>
              </a:rPr>
              <a:t>The demo is live.</a:t>
            </a:r>
          </a:p>
        </p:txBody>
      </p:sp>
      <p:sp>
        <p:nvSpPr>
          <p:cNvPr id="5" name="TextBox 4"/>
          <p:cNvSpPr txBox="1"/>
          <p:nvPr/>
        </p:nvSpPr>
        <p:spPr>
          <a:xfrm>
            <a:off x="1828800" y="2240280"/>
            <a:ext cx="8503920" cy="365760"/>
          </a:xfrm>
          <a:prstGeom prst="rect">
            <a:avLst/>
          </a:prstGeom>
          <a:noFill/>
        </p:spPr>
        <p:txBody>
          <a:bodyPr wrap="square">
            <a:spAutoFit/>
          </a:bodyPr>
          <a:lstStyle/>
          <a:p>
            <a:pPr algn="ctr"/>
            <a:r>
              <a:rPr sz="1400" b="0">
                <a:solidFill>
                  <a:srgbClr val="94A3B8"/>
                </a:solidFill>
                <a:latin typeface="Inter"/>
              </a:rPr>
              <a:t>Click it. Run an engine. See the approval gate in action.</a:t>
            </a:r>
          </a:p>
        </p:txBody>
      </p:sp>
      <p:sp>
        <p:nvSpPr>
          <p:cNvPr id="6" name="TextBox 5"/>
          <p:cNvSpPr txBox="1"/>
          <p:nvPr/>
        </p:nvSpPr>
        <p:spPr>
          <a:xfrm>
            <a:off x="1828800" y="2788920"/>
            <a:ext cx="8503920" cy="365760"/>
          </a:xfrm>
          <a:prstGeom prst="rect">
            <a:avLst/>
          </a:prstGeom>
          <a:noFill/>
        </p:spPr>
        <p:txBody>
          <a:bodyPr wrap="square">
            <a:spAutoFit/>
          </a:bodyPr>
          <a:lstStyle/>
          <a:p>
            <a:pPr algn="ctr"/>
            <a:r>
              <a:rPr sz="1300" b="1">
                <a:solidFill>
                  <a:srgbClr val="0EA5E9"/>
                </a:solidFill>
                <a:latin typeface="DM Mono"/>
              </a:rPr>
              <a:t>michaelwegter.com/demos/real-estate-intelligence-center/</a:t>
            </a:r>
          </a:p>
        </p:txBody>
      </p:sp>
      <p:sp>
        <p:nvSpPr>
          <p:cNvPr id="7" name="TextBox 6"/>
          <p:cNvSpPr txBox="1"/>
          <p:nvPr/>
        </p:nvSpPr>
        <p:spPr>
          <a:xfrm>
            <a:off x="1828800" y="3383280"/>
            <a:ext cx="8503920" cy="320040"/>
          </a:xfrm>
          <a:prstGeom prst="rect">
            <a:avLst/>
          </a:prstGeom>
          <a:noFill/>
        </p:spPr>
        <p:txBody>
          <a:bodyPr wrap="square">
            <a:spAutoFit/>
          </a:bodyPr>
          <a:lstStyle/>
          <a:p>
            <a:pPr algn="ctr"/>
            <a:r>
              <a:rPr sz="950" b="0">
                <a:solidFill>
                  <a:srgbClr val="475569"/>
                </a:solidFill>
                <a:latin typeface="DM Mono"/>
              </a:rPr>
              <a:t>Michael Wegter  |  michaelwegter.com  |  github.com/mwegter95</a:t>
            </a:r>
          </a:p>
        </p:txBody>
      </p:sp>
      <p:sp>
        <p:nvSpPr>
          <p:cNvPr id="8" name="TextBox 7"/>
          <p:cNvSpPr txBox="1"/>
          <p:nvPr/>
        </p:nvSpPr>
        <p:spPr>
          <a:xfrm>
            <a:off x="1828800" y="4023360"/>
            <a:ext cx="8503920" cy="365760"/>
          </a:xfrm>
          <a:prstGeom prst="rect">
            <a:avLst/>
          </a:prstGeom>
          <a:noFill/>
        </p:spPr>
        <p:txBody>
          <a:bodyPr wrap="square">
            <a:spAutoFit/>
          </a:bodyPr>
          <a:lstStyle/>
          <a:p>
            <a:pPr algn="ctr"/>
            <a:r>
              <a:rPr sz="1300" b="0">
                <a:solidFill>
                  <a:srgbClr val="94A3B8"/>
                </a:solidFill>
                <a:latin typeface="Inter"/>
              </a:rPr>
              <a:t>Ready to start on the real build when you are.</a:t>
            </a:r>
          </a:p>
        </p:txBody>
      </p:sp>
      <p:sp>
        <p:nvSpPr>
          <p:cNvPr id="9" name="TextBox 8"/>
          <p:cNvSpPr txBox="1"/>
          <p:nvPr/>
        </p:nvSpPr>
        <p:spPr>
          <a:xfrm>
            <a:off x="365760" y="6492240"/>
            <a:ext cx="11430000" cy="274320"/>
          </a:xfrm>
          <a:prstGeom prst="rect">
            <a:avLst/>
          </a:prstGeom>
          <a:noFill/>
        </p:spPr>
        <p:txBody>
          <a:bodyPr wrap="square">
            <a:spAutoFit/>
          </a:bodyPr>
          <a:lstStyle/>
          <a:p>
            <a:pPr algn="l"/>
            <a:r>
              <a:rPr sz="750" b="0">
                <a:solidFill>
                  <a:srgbClr val="475569"/>
                </a:solidFill>
                <a:latin typeface="DM Mono"/>
              </a:rPr>
              <a:t>Michael Wegter  |  michaelwegter.com  |  Pathwaize Intelligence Center Proposal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